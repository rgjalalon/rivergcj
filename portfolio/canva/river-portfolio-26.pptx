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14.jpg"/><Relationship Id="rId15" Type="http://schemas.openxmlformats.org/officeDocument/2006/relationships/image" Target="../media/image15.jpg"/><Relationship Id="rId16" Type="http://schemas.openxmlformats.org/officeDocument/2006/relationships/image" Target="../media/image16.jpg"/><Relationship Id="rId17" Type="http://schemas.openxmlformats.org/officeDocument/2006/relationships/image" Target="../media/image17.jpg"/><Relationship Id="rId18" Type="http://schemas.openxmlformats.org/officeDocument/2006/relationships/image" Target="../media/image18.jpg"/><Relationship Id="rId19" Type="http://schemas.openxmlformats.org/officeDocument/2006/relationships/image" Target="../media/image19.jpg"/><Relationship Id="rId20" Type="http://schemas.openxmlformats.org/officeDocument/2006/relationships/image" Target="../media/image20.jpg"/><Relationship Id="rId21" Type="http://schemas.openxmlformats.org/officeDocument/2006/relationships/image" Target="../media/image21.jpg"/><Relationship Id="rId22" Type="http://schemas.openxmlformats.org/officeDocument/2006/relationships/image" Target="../media/image22.jpg"/><Relationship Id="rId23" Type="http://schemas.openxmlformats.org/officeDocument/2006/relationships/image" Target="../media/image23.jpg"/><Relationship Id="rId24" Type="http://schemas.openxmlformats.org/officeDocument/2006/relationships/image" Target="../media/image24.jpg"/><Relationship Id="rId25" Type="http://schemas.openxmlformats.org/officeDocument/2006/relationships/image" Target="../media/image25.jpg"/><Relationship Id="rId26" Type="http://schemas.openxmlformats.org/officeDocument/2006/relationships/image" Target="../media/image26.jpg"/><Relationship Id="rId27" Type="http://schemas.openxmlformats.org/officeDocument/2006/relationships/image" Target="../media/image27.jpg"/><Relationship Id="rId28" Type="http://schemas.openxmlformats.org/officeDocument/2006/relationships/image" Target="../media/image28.jpg"/><Relationship Id="rId29" Type="http://schemas.openxmlformats.org/officeDocument/2006/relationships/image" Target="../media/image2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15.jpg"/><Relationship Id="rId15" Type="http://schemas.openxmlformats.org/officeDocument/2006/relationships/image" Target="../media/image14.jpg"/><Relationship Id="rId16" Type="http://schemas.openxmlformats.org/officeDocument/2006/relationships/image" Target="../media/image30.jpg"/><Relationship Id="rId17" Type="http://schemas.openxmlformats.org/officeDocument/2006/relationships/image" Target="../media/image31.jpg"/><Relationship Id="rId18" Type="http://schemas.openxmlformats.org/officeDocument/2006/relationships/image" Target="../media/image32.jpg"/><Relationship Id="rId19" Type="http://schemas.openxmlformats.org/officeDocument/2006/relationships/image" Target="../media/image3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17.jpg"/><Relationship Id="rId15" Type="http://schemas.openxmlformats.org/officeDocument/2006/relationships/image" Target="../media/image16.jpg"/><Relationship Id="rId16" Type="http://schemas.openxmlformats.org/officeDocument/2006/relationships/image" Target="../media/image34.jpg"/><Relationship Id="rId17" Type="http://schemas.openxmlformats.org/officeDocument/2006/relationships/image" Target="../media/image35.jpg"/><Relationship Id="rId18" Type="http://schemas.openxmlformats.org/officeDocument/2006/relationships/image" Target="../media/image36.jpg"/><Relationship Id="rId19" Type="http://schemas.openxmlformats.org/officeDocument/2006/relationships/image" Target="../media/image3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19.jpg"/><Relationship Id="rId15" Type="http://schemas.openxmlformats.org/officeDocument/2006/relationships/image" Target="../media/image18.jpg"/><Relationship Id="rId16" Type="http://schemas.openxmlformats.org/officeDocument/2006/relationships/image" Target="../media/image38.jpg"/><Relationship Id="rId17" Type="http://schemas.openxmlformats.org/officeDocument/2006/relationships/image" Target="../media/image39.jpg"/><Relationship Id="rId18" Type="http://schemas.openxmlformats.org/officeDocument/2006/relationships/image" Target="../media/image40.jpg"/><Relationship Id="rId19" Type="http://schemas.openxmlformats.org/officeDocument/2006/relationships/image" Target="../media/image4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21.jpg"/><Relationship Id="rId15" Type="http://schemas.openxmlformats.org/officeDocument/2006/relationships/image" Target="../media/image20.jpg"/><Relationship Id="rId16" Type="http://schemas.openxmlformats.org/officeDocument/2006/relationships/image" Target="../media/image42.jpg"/><Relationship Id="rId17" Type="http://schemas.openxmlformats.org/officeDocument/2006/relationships/image" Target="../media/image43.jpg"/><Relationship Id="rId18" Type="http://schemas.openxmlformats.org/officeDocument/2006/relationships/image" Target="../media/image4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23.jpg"/><Relationship Id="rId15" Type="http://schemas.openxmlformats.org/officeDocument/2006/relationships/image" Target="../media/image22.jpg"/><Relationship Id="rId16" Type="http://schemas.openxmlformats.org/officeDocument/2006/relationships/image" Target="../media/image45.jpg"/><Relationship Id="rId17" Type="http://schemas.openxmlformats.org/officeDocument/2006/relationships/image" Target="../media/image46.jpg"/><Relationship Id="rId18" Type="http://schemas.openxmlformats.org/officeDocument/2006/relationships/image" Target="../media/image47.jpg"/><Relationship Id="rId19" Type="http://schemas.openxmlformats.org/officeDocument/2006/relationships/image" Target="../media/image4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25.jpg"/><Relationship Id="rId15" Type="http://schemas.openxmlformats.org/officeDocument/2006/relationships/image" Target="../media/image24.jpg"/><Relationship Id="rId16" Type="http://schemas.openxmlformats.org/officeDocument/2006/relationships/image" Target="../media/image49.jpg"/><Relationship Id="rId17" Type="http://schemas.openxmlformats.org/officeDocument/2006/relationships/image" Target="../media/image50.jpg"/><Relationship Id="rId18" Type="http://schemas.openxmlformats.org/officeDocument/2006/relationships/image" Target="../media/image51.jpg"/><Relationship Id="rId19" Type="http://schemas.openxmlformats.org/officeDocument/2006/relationships/image" Target="../media/image5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27.jpg"/><Relationship Id="rId15" Type="http://schemas.openxmlformats.org/officeDocument/2006/relationships/image" Target="../media/image26.jpg"/><Relationship Id="rId16" Type="http://schemas.openxmlformats.org/officeDocument/2006/relationships/image" Target="../media/image53.jpg"/><Relationship Id="rId17" Type="http://schemas.openxmlformats.org/officeDocument/2006/relationships/image" Target="../media/image54.jpg"/><Relationship Id="rId18" Type="http://schemas.openxmlformats.org/officeDocument/2006/relationships/image" Target="../media/image5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29.jpg"/><Relationship Id="rId15" Type="http://schemas.openxmlformats.org/officeDocument/2006/relationships/image" Target="../media/image28.jpg"/><Relationship Id="rId16" Type="http://schemas.openxmlformats.org/officeDocument/2006/relationships/image" Target="../media/image5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4.jpg"/><Relationship Id="rId7" Type="http://schemas.openxmlformats.org/officeDocument/2006/relationships/image" Target="../media/image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Relationship Id="rId10" Type="http://schemas.openxmlformats.org/officeDocument/2006/relationships/image" Target="../media/image6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Relationship Id="rId14" Type="http://schemas.openxmlformats.org/officeDocument/2006/relationships/image" Target="../media/image57.jpg"/><Relationship Id="rId15" Type="http://schemas.openxmlformats.org/officeDocument/2006/relationships/image" Target="../media/image5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125"/>
            <a:ext cx="18288000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809750"/>
            <a:ext cx="8572500" cy="400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250" b="0" i="0">
                <a:solidFill>
                  <a:srgbClr val="ECEBE7"/>
                </a:solidFill>
                <a:latin typeface="Instrument Serif"/>
              </a:rPr>
              <a:t>Social campaigns that </a:t>
            </a:r>
            <a:r>
              <a:rPr sz="8250" b="0" i="1">
                <a:solidFill>
                  <a:srgbClr val="5B86FF"/>
                </a:solidFill>
                <a:latin typeface="Instrument Serif"/>
              </a:rPr>
              <a:t>hold</a:t>
            </a:r>
            <a:r>
              <a:rPr sz="8250" b="0" i="0">
                <a:solidFill>
                  <a:srgbClr val="ECEBE7"/>
                </a:solidFill>
                <a:latin typeface="Instrument Serif"/>
              </a:rPr>
              <a:t> a scroll.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96000"/>
            <a:ext cx="2011680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266825" y="6200775"/>
            <a:ext cx="76200" cy="76200"/>
          </a:xfrm>
          <a:prstGeom prst="ellipse">
            <a:avLst/>
          </a:prstGeom>
          <a:solidFill>
            <a:srgbClr val="4CC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09700" y="6096000"/>
            <a:ext cx="172593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ECEBE7"/>
                </a:solidFill>
                <a:latin typeface="DM Sans"/>
              </a:rPr>
              <a:t>Open to freelance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591300"/>
            <a:ext cx="609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9B968F"/>
                </a:solidFill>
                <a:latin typeface="DM Sans"/>
              </a:rPr>
              <a:t>I design social campaigns and brand systems for health and wellness companies. Most of my work turns clinical ideas into posts people stop for.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819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RIVER GEOFF  ·  PORTFOLIO '26  ·  DAVAO CITY, PHILIPPINES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86950" y="2362200"/>
            <a:ext cx="2705100" cy="3371850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0000">
            <a:off x="9906000" y="2381250"/>
            <a:ext cx="2667000" cy="33337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1315700" y="3028950"/>
            <a:ext cx="2705100" cy="3371850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hai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11334750" y="3048000"/>
            <a:ext cx="2667000" cy="333375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2744450" y="2362200"/>
            <a:ext cx="2705100" cy="3371850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heart-family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63500" y="2381250"/>
            <a:ext cx="2667000" cy="333375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14173200" y="3028950"/>
            <a:ext cx="2705100" cy="3371850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glyca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0000">
            <a:off x="14192250" y="3048000"/>
            <a:ext cx="2667000" cy="33337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5601950" y="2362200"/>
            <a:ext cx="2705100" cy="3371850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wai-doctors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360000">
            <a:off x="15621000" y="2381250"/>
            <a:ext cx="2667000" cy="333375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12734925" y="2352675"/>
            <a:ext cx="2724150" cy="3390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2734925" y="2076450"/>
            <a:ext cx="93345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734925" y="2076450"/>
            <a:ext cx="9334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0" y="7239000"/>
            <a:ext cx="723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Mono"/>
              </a:rPr>
              <a:t>9 projects  ·  52 frames  ·  2 clients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125"/>
            <a:ext cx="18288000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31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990600"/>
            <a:ext cx="3810000" cy="8572500"/>
          </a:xfrm>
          <a:prstGeom prst="roundRect">
            <a:avLst>
              <a:gd name="adj" fmla="val 45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1000125"/>
            <a:ext cx="3790950" cy="50196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50" y="6286500"/>
            <a:ext cx="342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50" b="0" i="0">
                <a:solidFill>
                  <a:srgbClr val="ECEBE7"/>
                </a:solidFill>
                <a:latin typeface="Instrument Serif"/>
              </a:rPr>
              <a:t>River Geoff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6877050"/>
            <a:ext cx="3429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0" i="0">
                <a:solidFill>
                  <a:srgbClr val="9B968F"/>
                </a:solidFill>
                <a:latin typeface="DM Sans"/>
              </a:rPr>
              <a:t>Graphic designer · social &amp; brand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7750" y="7334250"/>
            <a:ext cx="2011680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171575" y="7439025"/>
            <a:ext cx="76200" cy="76200"/>
          </a:xfrm>
          <a:prstGeom prst="ellipse">
            <a:avLst/>
          </a:prstGeom>
          <a:solidFill>
            <a:srgbClr val="4CC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4450" y="7334250"/>
            <a:ext cx="172593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ECEBE7"/>
                </a:solidFill>
                <a:latin typeface="DM Sans"/>
              </a:rPr>
              <a:t>Open to freelance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7750" y="782955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DAVAO CITY, PHILIPPINES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7750" y="8210550"/>
            <a:ext cx="32385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47750" y="8401050"/>
            <a:ext cx="3238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7750" y="8667750"/>
            <a:ext cx="548640" cy="266700"/>
          </a:xfrm>
          <a:prstGeom prst="roundRect">
            <a:avLst>
              <a:gd name="adj" fmla="val 25000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47750" y="8667750"/>
            <a:ext cx="54864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CEBE7"/>
                </a:solidFill>
                <a:latin typeface="DM Sans"/>
              </a:rPr>
              <a:t>Canva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53540" y="8667750"/>
            <a:ext cx="548640" cy="266700"/>
          </a:xfrm>
          <a:prstGeom prst="roundRect">
            <a:avLst>
              <a:gd name="adj" fmla="val 25000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653540" y="8667750"/>
            <a:ext cx="54864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CEBE7"/>
                </a:solidFill>
                <a:latin typeface="DM Sans"/>
              </a:rPr>
              <a:t>Figma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59330" y="8667750"/>
            <a:ext cx="804672" cy="266700"/>
          </a:xfrm>
          <a:prstGeom prst="roundRect">
            <a:avLst>
              <a:gd name="adj" fmla="val 25000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59330" y="8667750"/>
            <a:ext cx="804672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CEBE7"/>
                </a:solidFill>
                <a:latin typeface="DM Sans"/>
              </a:rPr>
              <a:t>Photoshop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21152" y="8667750"/>
            <a:ext cx="932688" cy="266700"/>
          </a:xfrm>
          <a:prstGeom prst="roundRect">
            <a:avLst>
              <a:gd name="adj" fmla="val 25000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121152" y="8667750"/>
            <a:ext cx="932688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CEBE7"/>
                </a:solidFill>
                <a:latin typeface="DM Sans"/>
              </a:rPr>
              <a:t>Illustrator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750" y="8991600"/>
            <a:ext cx="996696" cy="266700"/>
          </a:xfrm>
          <a:prstGeom prst="roundRect">
            <a:avLst>
              <a:gd name="adj" fmla="val 25000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47750" y="8991600"/>
            <a:ext cx="996696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CEBE7"/>
                </a:solidFill>
                <a:latin typeface="DM Sans"/>
              </a:rPr>
              <a:t>Premiere Pro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01596" y="8991600"/>
            <a:ext cx="612648" cy="266700"/>
          </a:xfrm>
          <a:prstGeom prst="roundRect">
            <a:avLst>
              <a:gd name="adj" fmla="val 25000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101596" y="8991600"/>
            <a:ext cx="612648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ECEBE7"/>
                </a:solidFill>
                <a:latin typeface="DM Sans"/>
              </a:rPr>
              <a:t>CapCut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6800" y="990600"/>
            <a:ext cx="12649200" cy="3143250"/>
          </a:xfrm>
          <a:prstGeom prst="roundRect">
            <a:avLst>
              <a:gd name="adj" fmla="val 5454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81600" y="121920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 i="0">
                <a:solidFill>
                  <a:srgbClr val="ECEBE7"/>
                </a:solidFill>
                <a:latin typeface="Instrument Serif"/>
              </a:rPr>
              <a:t>About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316200" y="13335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9B968F"/>
                </a:solidFill>
                <a:latin typeface="DM Sans"/>
              </a:rPr>
              <a:t>DETAILS · EDIT 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81600" y="1752600"/>
            <a:ext cx="78105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37" b="0" i="0">
                <a:solidFill>
                  <a:srgbClr val="ECEBE7"/>
                </a:solidFill>
                <a:latin typeface="DM Sans"/>
              </a:rPr>
              <a:t>I'm a designer who works best when the brief is clear and the audience is specific. Lately that has meant carousels for a private health clinic and launch content for a medical AI product.</a:t>
            </a:r>
          </a:p>
          <a:p>
            <a:pPr algn="l">
              <a:lnSpc>
                <a:spcPct val="140000"/>
              </a:lnSpc>
            </a:pPr>
            <a:r>
              <a:rPr sz="1237" b="0" i="0">
                <a:solidFill>
                  <a:srgbClr val="ECEBE7"/>
                </a:solidFill>
                <a:latin typeface="DM Sans"/>
              </a:rPr>
              <a:t>I care about pacing: what the first frame promises, what each swipe adds, and where the reader lands. Good design doesn't shout. It flows, connects, and leaves something behind.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81600" y="3200400"/>
            <a:ext cx="2924175" cy="723900"/>
          </a:xfrm>
          <a:prstGeom prst="roundRect">
            <a:avLst>
              <a:gd name="adj" fmla="val 13157"/>
            </a:avLst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334000" y="3314700"/>
            <a:ext cx="2619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BASED 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0" y="3524250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2" b="1" i="0">
                <a:solidFill>
                  <a:srgbClr val="ECEBE7"/>
                </a:solidFill>
                <a:latin typeface="DM Sans"/>
              </a:rPr>
              <a:t>Davao City, PH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0075" y="3200400"/>
            <a:ext cx="2924175" cy="723900"/>
          </a:xfrm>
          <a:prstGeom prst="roundRect">
            <a:avLst>
              <a:gd name="adj" fmla="val 13157"/>
            </a:avLst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72475" y="3314700"/>
            <a:ext cx="2619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FOCUS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72475" y="3524250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2" b="1" i="0">
                <a:solidFill>
                  <a:srgbClr val="ECEBE7"/>
                </a:solidFill>
                <a:latin typeface="DM Sans"/>
              </a:rPr>
              <a:t>Social carousels, brand identity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258550" y="3200400"/>
            <a:ext cx="2924175" cy="723900"/>
          </a:xfrm>
          <a:prstGeom prst="roundRect">
            <a:avLst>
              <a:gd name="adj" fmla="val 13157"/>
            </a:avLst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1410950" y="3314700"/>
            <a:ext cx="2619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EDUCATION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10950" y="3524250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2" b="1" i="0">
                <a:solidFill>
                  <a:srgbClr val="ECEBE7"/>
                </a:solidFill>
                <a:latin typeface="DM Sans"/>
              </a:rPr>
              <a:t>BS Psychology, Mapúa MCM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297025" y="3200400"/>
            <a:ext cx="2924175" cy="723900"/>
          </a:xfrm>
          <a:prstGeom prst="roundRect">
            <a:avLst>
              <a:gd name="adj" fmla="val 13157"/>
            </a:avLst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4449425" y="3314700"/>
            <a:ext cx="2619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AVAILABLE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449425" y="3524250"/>
            <a:ext cx="2619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2" b="1" i="0">
                <a:solidFill>
                  <a:srgbClr val="ECEBE7"/>
                </a:solidFill>
                <a:latin typeface="DM Sans"/>
              </a:rPr>
              <a:t>Remote · part-time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76800" y="4324350"/>
            <a:ext cx="6667500" cy="5238750"/>
          </a:xfrm>
          <a:prstGeom prst="roundRect">
            <a:avLst>
              <a:gd name="adj" fmla="val 3272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181600" y="455295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 i="0">
                <a:solidFill>
                  <a:srgbClr val="ECEBE7"/>
                </a:solidFill>
                <a:latin typeface="Instrument Serif"/>
              </a:rPr>
              <a:t>Experience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34500" y="46672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9B968F"/>
                </a:solidFill>
                <a:latin typeface="DM Sans"/>
              </a:rPr>
              <a:t>4 ROLES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81600" y="52197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Mono"/>
              </a:rPr>
              <a:t>2025 – now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1800" y="520065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Graphic designer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81800" y="54673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Freelance — The Wellness, Wai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81600" y="5905500"/>
            <a:ext cx="60579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181600" y="60388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Mono"/>
              </a:rPr>
              <a:t>2023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81800" y="601980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Creative head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81800" y="6286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MaPsyA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81600" y="6724650"/>
            <a:ext cx="60579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181600" y="685800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Mono"/>
              </a:rPr>
              <a:t>2022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81800" y="683895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Creative committee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81800" y="71056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MMCM College of Arts &amp; Sciences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181600" y="7543800"/>
            <a:ext cx="60579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181600" y="7677150"/>
            <a:ext cx="1428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Mono"/>
              </a:rPr>
              <a:t>2020 – 2021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81800" y="7658100"/>
            <a:ext cx="43815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Layout artist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81800" y="79248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The Revolver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1734800" y="4324350"/>
            <a:ext cx="5791200" cy="2190750"/>
          </a:xfrm>
          <a:prstGeom prst="roundRect">
            <a:avLst>
              <a:gd name="adj" fmla="val 7826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12001500" y="455295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 i="0">
                <a:solidFill>
                  <a:srgbClr val="ECEBE7"/>
                </a:solidFill>
                <a:latin typeface="Instrument Serif"/>
              </a:rPr>
              <a:t>Skills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001500" y="5143500"/>
            <a:ext cx="1338072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2001500" y="5143500"/>
            <a:ext cx="133807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Social carousels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3415772" y="5143500"/>
            <a:ext cx="1199388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3415772" y="5143500"/>
            <a:ext cx="119938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Brand identity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4691360" y="5143500"/>
            <a:ext cx="147675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14691360" y="5143500"/>
            <a:ext cx="147675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Layout &amp; editorial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2001500" y="5505450"/>
            <a:ext cx="1060704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2001500" y="5505450"/>
            <a:ext cx="106070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Infographics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3138404" y="5505450"/>
            <a:ext cx="1754124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3138404" y="5505450"/>
            <a:ext cx="175412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Motion &amp; video editing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4968728" y="5505450"/>
            <a:ext cx="78333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4968728" y="5505450"/>
            <a:ext cx="78333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Mock-ups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5828264" y="5505450"/>
            <a:ext cx="113004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5828264" y="5505450"/>
            <a:ext cx="113004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Art direction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734800" y="6705600"/>
            <a:ext cx="5791200" cy="2857500"/>
          </a:xfrm>
          <a:prstGeom prst="roundRect">
            <a:avLst>
              <a:gd name="adj" fmla="val 6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2001500" y="691515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50" b="0" i="0">
                <a:solidFill>
                  <a:srgbClr val="ECEBE7"/>
                </a:solidFill>
                <a:latin typeface="Instrument Serif"/>
              </a:rPr>
              <a:t>Get in touch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001500" y="76009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EMAIL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163550" y="7524750"/>
            <a:ext cx="39814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CEBE7"/>
                </a:solidFill>
                <a:latin typeface="DM Sans"/>
              </a:rPr>
              <a:t>hello@yourname.com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2001500" y="7924800"/>
            <a:ext cx="52578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2001500" y="80772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PHONE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163550" y="8001000"/>
            <a:ext cx="39814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CEBE7"/>
                </a:solidFill>
                <a:latin typeface="DM Sans"/>
              </a:rPr>
              <a:t>+63 900 000 0000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2001500" y="8401050"/>
            <a:ext cx="52578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2001500" y="855345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INSTAGRAM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163550" y="8477250"/>
            <a:ext cx="39814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CEBE7"/>
                </a:solidFill>
                <a:latin typeface="DM Sans"/>
              </a:rPr>
              <a:t>@yourhandle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001500" y="8877300"/>
            <a:ext cx="52578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12001500" y="9029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BEHANCE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3163550" y="8953500"/>
            <a:ext cx="39814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CEBE7"/>
                </a:solidFill>
                <a:latin typeface="DM Sans"/>
              </a:rPr>
              <a:t>behance.net/yourname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54209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2400" y="1314450"/>
            <a:ext cx="2552700" cy="438150"/>
          </a:xfrm>
          <a:prstGeom prst="roundRect">
            <a:avLst>
              <a:gd name="adj" fmla="val 17391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B86FF"/>
                </a:solidFill>
                <a:latin typeface="DM Sans"/>
              </a:rPr>
              <a:t>All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7" name="Picture 26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0" name="Picture 29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3" name="Picture 32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6" name="Picture 35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9" name="Picture 38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95250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350" b="0" i="0">
                <a:solidFill>
                  <a:srgbClr val="ECEBE7"/>
                </a:solidFill>
                <a:latin typeface="Instrument Serif"/>
              </a:rPr>
              <a:t>All work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29000" y="1771650"/>
            <a:ext cx="474726" cy="285750"/>
          </a:xfrm>
          <a:prstGeom prst="roundRect">
            <a:avLst>
              <a:gd name="adj" fmla="val 50000"/>
            </a:avLst>
          </a:prstGeom>
          <a:solidFill>
            <a:srgbClr val="ECEBE7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429000" y="1771650"/>
            <a:ext cx="47472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151412"/>
                </a:solidFill>
                <a:latin typeface="DM Sans"/>
              </a:rPr>
              <a:t>All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979926" y="1771650"/>
            <a:ext cx="1098804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979926" y="1771650"/>
            <a:ext cx="109880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54930" y="1771650"/>
            <a:ext cx="474726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154930" y="1771650"/>
            <a:ext cx="47472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705856" y="1771650"/>
            <a:ext cx="821436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705856" y="1771650"/>
            <a:ext cx="82143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9B968F"/>
                </a:solidFill>
                <a:latin typeface="DM Sans"/>
              </a:rPr>
              <a:t>Carousel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03492" y="1771650"/>
            <a:ext cx="1029462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603492" y="1771650"/>
            <a:ext cx="102946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9B968F"/>
                </a:solidFill>
                <a:latin typeface="DM Sans"/>
              </a:rPr>
              <a:t>Infographic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287500" y="182880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120">
                <a:solidFill>
                  <a:srgbClr val="9B968F"/>
                </a:solidFill>
                <a:latin typeface="DM Sans"/>
              </a:rPr>
              <a:t>9 PROJECTS · 52 FRAMES</a:t>
            </a:r>
          </a:p>
        </p:txBody>
      </p:sp>
      <p:pic>
        <p:nvPicPr>
          <p:cNvPr id="72" name="Picture 71" descr="cortisol-0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0000">
            <a:off x="3524250" y="2305050"/>
            <a:ext cx="2505075" cy="3133725"/>
          </a:xfrm>
          <a:prstGeom prst="rect">
            <a:avLst/>
          </a:prstGeom>
        </p:spPr>
      </p:pic>
      <p:pic>
        <p:nvPicPr>
          <p:cNvPr id="73" name="Picture 72" descr="cortisol-0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90000">
            <a:off x="3476625" y="2343150"/>
            <a:ext cx="2581275" cy="3228975"/>
          </a:xfrm>
          <a:prstGeom prst="rect">
            <a:avLst/>
          </a:prstGeom>
        </p:spPr>
      </p:pic>
      <p:pic>
        <p:nvPicPr>
          <p:cNvPr id="74" name="Picture 73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381250"/>
            <a:ext cx="2667000" cy="333375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429000" y="58102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Have you tried the cortisol cocktail?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29000" y="60198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7 frames</a:t>
            </a:r>
          </a:p>
        </p:txBody>
      </p:sp>
      <p:pic>
        <p:nvPicPr>
          <p:cNvPr id="77" name="Picture 76" descr="bloodtest-prep-03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80000">
            <a:off x="6477000" y="2305050"/>
            <a:ext cx="2505075" cy="3133725"/>
          </a:xfrm>
          <a:prstGeom prst="rect">
            <a:avLst/>
          </a:prstGeom>
        </p:spPr>
      </p:pic>
      <p:pic>
        <p:nvPicPr>
          <p:cNvPr id="78" name="Picture 77" descr="bloodtest-prep-0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90000">
            <a:off x="6429375" y="2343150"/>
            <a:ext cx="2581275" cy="3228975"/>
          </a:xfrm>
          <a:prstGeom prst="rect">
            <a:avLst/>
          </a:prstGeom>
        </p:spPr>
      </p:pic>
      <p:pic>
        <p:nvPicPr>
          <p:cNvPr id="79" name="Picture 7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2381250"/>
            <a:ext cx="2667000" cy="333375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381750" y="58102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5 things to get right before your next bloo…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81750" y="60198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7 frames</a:t>
            </a:r>
          </a:p>
        </p:txBody>
      </p:sp>
      <p:pic>
        <p:nvPicPr>
          <p:cNvPr id="82" name="Picture 81" descr="athletes-0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180000">
            <a:off x="9429750" y="2305050"/>
            <a:ext cx="2505075" cy="3133725"/>
          </a:xfrm>
          <a:prstGeom prst="rect">
            <a:avLst/>
          </a:prstGeom>
        </p:spPr>
      </p:pic>
      <p:pic>
        <p:nvPicPr>
          <p:cNvPr id="83" name="Picture 82" descr="athletes-0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90000">
            <a:off x="9382125" y="2343150"/>
            <a:ext cx="2581275" cy="3228975"/>
          </a:xfrm>
          <a:prstGeom prst="rect">
            <a:avLst/>
          </a:prstGeom>
        </p:spPr>
      </p:pic>
      <p:pic>
        <p:nvPicPr>
          <p:cNvPr id="84" name="Picture 83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0" y="2381250"/>
            <a:ext cx="2667000" cy="333375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334500" y="58102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The science Gisele, David, Steph &amp; Serena b…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34500" y="60198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7 frames</a:t>
            </a:r>
          </a:p>
        </p:txBody>
      </p:sp>
      <p:pic>
        <p:nvPicPr>
          <p:cNvPr id="87" name="Picture 86" descr="heart-family-0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180000">
            <a:off x="12382500" y="2305050"/>
            <a:ext cx="2505075" cy="3133725"/>
          </a:xfrm>
          <a:prstGeom prst="rect">
            <a:avLst/>
          </a:prstGeom>
        </p:spPr>
      </p:pic>
      <p:pic>
        <p:nvPicPr>
          <p:cNvPr id="88" name="Picture 87" descr="heart-family-02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90000">
            <a:off x="12334875" y="2343150"/>
            <a:ext cx="2581275" cy="3228975"/>
          </a:xfrm>
          <a:prstGeom prst="rect">
            <a:avLst/>
          </a:prstGeom>
        </p:spPr>
      </p:pic>
      <p:pic>
        <p:nvPicPr>
          <p:cNvPr id="89" name="Picture 88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7250" y="2381250"/>
            <a:ext cx="2667000" cy="333375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2287250" y="58102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You inherit your eye colour. And maybe this.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287250" y="60198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6 frames</a:t>
            </a:r>
          </a:p>
        </p:txBody>
      </p:sp>
      <p:pic>
        <p:nvPicPr>
          <p:cNvPr id="92" name="Picture 91" descr="hair-03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80000">
            <a:off x="15335250" y="2305050"/>
            <a:ext cx="2505075" cy="3133725"/>
          </a:xfrm>
          <a:prstGeom prst="rect">
            <a:avLst/>
          </a:prstGeom>
        </p:spPr>
      </p:pic>
      <p:pic>
        <p:nvPicPr>
          <p:cNvPr id="93" name="Picture 92" descr="hair-02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90000">
            <a:off x="15287625" y="2343150"/>
            <a:ext cx="2581275" cy="3228975"/>
          </a:xfrm>
          <a:prstGeom prst="rect">
            <a:avLst/>
          </a:prstGeom>
        </p:spPr>
      </p:pic>
      <p:pic>
        <p:nvPicPr>
          <p:cNvPr id="94" name="Picture 93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0" y="2381250"/>
            <a:ext cx="2667000" cy="333375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5240000" y="58102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Your hair isn't falling out. It's on schedu…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40000" y="60198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7 frames</a:t>
            </a:r>
          </a:p>
        </p:txBody>
      </p:sp>
      <p:pic>
        <p:nvPicPr>
          <p:cNvPr id="97" name="Picture 96" descr="fuller-picture-03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180000">
            <a:off x="3524250" y="6305550"/>
            <a:ext cx="2505075" cy="3133725"/>
          </a:xfrm>
          <a:prstGeom prst="rect">
            <a:avLst/>
          </a:prstGeom>
        </p:spPr>
      </p:pic>
      <p:pic>
        <p:nvPicPr>
          <p:cNvPr id="98" name="Picture 97" descr="fuller-picture-02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90000">
            <a:off x="3476625" y="6343650"/>
            <a:ext cx="2581275" cy="3228975"/>
          </a:xfrm>
          <a:prstGeom prst="rect">
            <a:avLst/>
          </a:prstGeom>
        </p:spPr>
      </p:pic>
      <p:pic>
        <p:nvPicPr>
          <p:cNvPr id="99" name="Picture 98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6381750"/>
            <a:ext cx="2667000" cy="333375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3429000" y="98107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Your blood test says “normal”. So why do yo…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29000" y="100203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7 frames</a:t>
            </a:r>
          </a:p>
        </p:txBody>
      </p:sp>
      <p:pic>
        <p:nvPicPr>
          <p:cNvPr id="102" name="Picture 101" descr="glyca-03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180000">
            <a:off x="6477000" y="6305550"/>
            <a:ext cx="2505075" cy="3133725"/>
          </a:xfrm>
          <a:prstGeom prst="rect">
            <a:avLst/>
          </a:prstGeom>
        </p:spPr>
      </p:pic>
      <p:pic>
        <p:nvPicPr>
          <p:cNvPr id="103" name="Picture 102" descr="glyca-02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90000">
            <a:off x="6429375" y="6343650"/>
            <a:ext cx="2581275" cy="3228975"/>
          </a:xfrm>
          <a:prstGeom prst="rect">
            <a:avLst/>
          </a:prstGeom>
        </p:spPr>
      </p:pic>
      <p:pic>
        <p:nvPicPr>
          <p:cNvPr id="104" name="Picture 103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0" y="6381750"/>
            <a:ext cx="2667000" cy="333375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6381750" y="98107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The inflammation signal your standard blood…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81750" y="100203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The Wellness · Carousel · 6 frames</a:t>
            </a:r>
          </a:p>
        </p:txBody>
      </p:sp>
      <p:pic>
        <p:nvPicPr>
          <p:cNvPr id="107" name="Picture 106" descr="wai-doctors-03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180000">
            <a:off x="9429750" y="6305550"/>
            <a:ext cx="2505075" cy="3133725"/>
          </a:xfrm>
          <a:prstGeom prst="rect">
            <a:avLst/>
          </a:prstGeom>
        </p:spPr>
      </p:pic>
      <p:pic>
        <p:nvPicPr>
          <p:cNvPr id="108" name="Picture 107" descr="wai-doctors-02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90000">
            <a:off x="9382125" y="6343650"/>
            <a:ext cx="2581275" cy="3228975"/>
          </a:xfrm>
          <a:prstGeom prst="rect">
            <a:avLst/>
          </a:prstGeom>
        </p:spPr>
      </p:pic>
      <p:pic>
        <p:nvPicPr>
          <p:cNvPr id="109" name="Picture 10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0" y="6381750"/>
            <a:ext cx="2667000" cy="333375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334500" y="98107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81% of doctors use AI at work. Which one ar…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34500" y="100203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Wai · Carousel · 4 frames</a:t>
            </a:r>
          </a:p>
        </p:txBody>
      </p:sp>
      <p:pic>
        <p:nvPicPr>
          <p:cNvPr id="112" name="Picture 11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87250" y="6381750"/>
            <a:ext cx="2667000" cy="333375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2287250" y="98107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ECEBE7"/>
                </a:solidFill>
                <a:latin typeface="DM Sans"/>
              </a:rPr>
              <a:t>How physicians spend a 57.8-hour workweek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287250" y="10020300"/>
            <a:ext cx="2667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B968F"/>
                </a:solidFill>
                <a:latin typeface="DM Sans"/>
              </a:rPr>
              <a:t>Wai · Infographic · 1 frame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5240000" y="6381750"/>
            <a:ext cx="2667000" cy="3333750"/>
          </a:xfrm>
          <a:prstGeom prst="roundRect">
            <a:avLst>
              <a:gd name="adj" fmla="val 4285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6" name="Picture 11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354300" y="6496050"/>
            <a:ext cx="2438400" cy="137160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5392400" y="8191500"/>
            <a:ext cx="236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0" i="0">
                <a:solidFill>
                  <a:srgbClr val="ECEBE7"/>
                </a:solidFill>
                <a:latin typeface="Instrument Serif"/>
              </a:rPr>
              <a:t>Motion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392400" y="8591550"/>
            <a:ext cx="2362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App walkthrough and brand film stills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240000" y="9810750"/>
            <a:ext cx="2667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12" b="1" i="0">
                <a:solidFill>
                  <a:srgbClr val="5B86FF"/>
                </a:solidFill>
                <a:latin typeface="DM Sans"/>
              </a:rPr>
              <a:t>See motion work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" y="211455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0" name="Picture 29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3" name="Picture 32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6" name="Picture 35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9" name="Picture 38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Have you tried the cortisol cocktail?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07   ›</a:t>
            </a:r>
          </a:p>
        </p:txBody>
      </p:sp>
      <p:pic>
        <p:nvPicPr>
          <p:cNvPr id="64" name="Picture 63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cortisol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cortisol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7</a:t>
            </a:r>
          </a:p>
        </p:txBody>
      </p:sp>
      <p:pic>
        <p:nvPicPr>
          <p:cNvPr id="77" name="Picture 76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cortisol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cortisol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cortisol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cortisol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cortisol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pic>
        <p:nvPicPr>
          <p:cNvPr id="84" name="Picture 83" descr="cortisol-0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34450" y="8610600"/>
            <a:ext cx="838200" cy="104775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A trend-response carousel that meets a viral drink on its own terms, then explains what cortisol actually does across the day and ends on a booking prompt.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7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#F7F5F1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E8A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#E8A032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9A5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#9A5A1C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3A2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#3A2414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5278100" y="7143750"/>
            <a:ext cx="1338072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5278100" y="7143750"/>
            <a:ext cx="133807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Health education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6692372" y="7143750"/>
            <a:ext cx="1199388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6692372" y="7143750"/>
            <a:ext cx="119938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Trend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" y="262890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3" name="Picture 32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6" name="Picture 35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9" name="Picture 38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5 things to get right before your next blood test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07   ›</a:t>
            </a:r>
          </a:p>
        </p:txBody>
      </p:sp>
      <p:pic>
        <p:nvPicPr>
          <p:cNvPr id="64" name="Picture 63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bloodtest-prep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bloodtest-prep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7</a:t>
            </a:r>
          </a:p>
        </p:txBody>
      </p:sp>
      <p:pic>
        <p:nvPicPr>
          <p:cNvPr id="77" name="Picture 76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bloodtest-prep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bloodtest-prep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bloodtest-prep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bloodtest-prep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bloodtest-prep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pic>
        <p:nvPicPr>
          <p:cNvPr id="84" name="Picture 83" descr="bloodtest-prep-0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34450" y="8610600"/>
            <a:ext cx="838200" cy="104775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A numbered checklist carousel. Each frame carries one instruction with the reason behind it, and the last frame collects all five as a save-for-later summary.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6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#F6F5F3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C4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#C4552A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6B5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#6B5646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1D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#1D1512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5278100" y="7143750"/>
            <a:ext cx="852678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5278100" y="7143750"/>
            <a:ext cx="85267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Checklist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6206978" y="7143750"/>
            <a:ext cx="1060704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6206978" y="7143750"/>
            <a:ext cx="106070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Patient prep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2400" y="314325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6" name="Picture 35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9" name="Picture 38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The science Gisele, David, Steph &amp; Serena build their lives 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07   ›</a:t>
            </a:r>
          </a:p>
        </p:txBody>
      </p:sp>
      <p:pic>
        <p:nvPicPr>
          <p:cNvPr id="64" name="Picture 63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athletes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athletes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7</a:t>
            </a:r>
          </a:p>
        </p:txBody>
      </p:sp>
      <p:pic>
        <p:nvPicPr>
          <p:cNvPr id="77" name="Picture 76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athletes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athletes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athletes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athletes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athletes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pic>
        <p:nvPicPr>
          <p:cNvPr id="84" name="Picture 83" descr="athletes-0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34450" y="8610600"/>
            <a:ext cx="838200" cy="104775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Four elite performers, four evidence-based habits. Each athlete gets one frame with a principle and a single research-backed number.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#FFFFFF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D7E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#D7E84A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AF9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#AF9577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352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#35261F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5278100" y="7143750"/>
            <a:ext cx="852678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5278100" y="7143750"/>
            <a:ext cx="85267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Editorial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6206978" y="7143750"/>
            <a:ext cx="113004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6206978" y="7143750"/>
            <a:ext cx="113004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Data callouts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2400" y="365760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9" name="Picture 38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You inherit your eye colour. And maybe this.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06   ›</a:t>
            </a:r>
          </a:p>
        </p:txBody>
      </p:sp>
      <p:pic>
        <p:nvPicPr>
          <p:cNvPr id="64" name="Picture 63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heart-family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heart-family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6</a:t>
            </a:r>
          </a:p>
        </p:txBody>
      </p:sp>
      <p:pic>
        <p:nvPicPr>
          <p:cNvPr id="77" name="Picture 76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heart-family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heart-family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heart-family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heart-family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heart-family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A heart-health carousel about family history. Deep reds carry the theme of inheritance, and a mock chat frame turns the ask into something readers can send home.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#F5F4F0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B22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#B2262A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6E1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#6E1210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E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#E9772E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5278100" y="7143750"/>
            <a:ext cx="1060704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5278100" y="7143750"/>
            <a:ext cx="106070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Heart health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6415004" y="7143750"/>
            <a:ext cx="1615440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16415004" y="7143750"/>
            <a:ext cx="161544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Conversation starter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5" name="Picture 34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2400" y="417195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Your hair isn't falling out. It's on schedule.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07   ›</a:t>
            </a:r>
          </a:p>
        </p:txBody>
      </p:sp>
      <p:pic>
        <p:nvPicPr>
          <p:cNvPr id="64" name="Picture 63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hair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hair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7</a:t>
            </a:r>
          </a:p>
        </p:txBody>
      </p:sp>
      <p:pic>
        <p:nvPicPr>
          <p:cNvPr id="77" name="Picture 76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hair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hair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hair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hair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hair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pic>
        <p:nvPicPr>
          <p:cNvPr id="84" name="Picture 83" descr="hair-0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34450" y="8610600"/>
            <a:ext cx="838200" cy="104775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Seasonal shedding explained as a calendar. A 100-day timeline frame shows the hair cycle, followed by care steps and a checklist for when to see a GP.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8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#F8F7F5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B98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#B98252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785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#785E4E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1C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#1C120B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5278100" y="7143750"/>
            <a:ext cx="78333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5278100" y="7143750"/>
            <a:ext cx="78333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Seasonal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6137636" y="7143750"/>
            <a:ext cx="78333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6137636" y="7143750"/>
            <a:ext cx="78333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Timeline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5" name="Picture 34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8" name="Picture 37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2400" y="468630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Your blood test says “normal”. So why do you still feel off?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07   ›</a:t>
            </a:r>
          </a:p>
        </p:txBody>
      </p:sp>
      <p:pic>
        <p:nvPicPr>
          <p:cNvPr id="64" name="Picture 63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fuller-picture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fuller-picture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7</a:t>
            </a:r>
          </a:p>
        </p:txBody>
      </p:sp>
      <p:pic>
        <p:nvPicPr>
          <p:cNvPr id="77" name="Picture 76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fuller-picture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fuller-picture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fuller-picture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fuller-picture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fuller-picture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pic>
        <p:nvPicPr>
          <p:cNvPr id="84" name="Picture 83" descr="fuller-picture-07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34450" y="8610600"/>
            <a:ext cx="838200" cy="1047750"/>
          </a:xfrm>
          <a:prstGeom prst="rect">
            <a:avLst/>
          </a:prstGeom>
        </p:spPr>
      </p:pic>
      <p:sp>
        <p:nvSpPr>
          <p:cNvPr id="85" name="Rectangle 84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Leads with a 92% statistic and moves from snapshot to trend, making the case for a fuller panel and a personal plan in the app.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#F8F8F8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D2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#D2452A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8F5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#8F5E47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270F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#270F0C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5278100" y="7143750"/>
            <a:ext cx="113004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15278100" y="7143750"/>
            <a:ext cx="113004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Statistic-led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6484346" y="7143750"/>
            <a:ext cx="1199388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16484346" y="7143750"/>
            <a:ext cx="119938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Product tie-in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5" name="Picture 34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8" name="Picture 37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1" name="Picture 40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2400" y="520065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The Wellness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The inflammation signal your standard blood test misses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06   ›</a:t>
            </a:r>
          </a:p>
        </p:txBody>
      </p:sp>
      <p:pic>
        <p:nvPicPr>
          <p:cNvPr id="64" name="Picture 63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glyca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glyca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6</a:t>
            </a:r>
          </a:p>
        </p:txBody>
      </p:sp>
      <p:pic>
        <p:nvPicPr>
          <p:cNvPr id="77" name="Picture 76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glyca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glyca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glyca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pic>
        <p:nvPicPr>
          <p:cNvPr id="82" name="Picture 81" descr="glyca-0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67550" y="8610600"/>
            <a:ext cx="838200" cy="1047750"/>
          </a:xfrm>
          <a:prstGeom prst="rect">
            <a:avLst/>
          </a:prstGeom>
        </p:spPr>
      </p:pic>
      <p:pic>
        <p:nvPicPr>
          <p:cNvPr id="83" name="Picture 82" descr="glyca-06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0" y="8610600"/>
            <a:ext cx="838200" cy="1047750"/>
          </a:xfrm>
          <a:prstGeom prst="rect">
            <a:avLst/>
          </a:prstGeom>
        </p:spPr>
      </p:pic>
      <p:sp>
        <p:nvSpPr>
          <p:cNvPr id="84" name="Rectangle 83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The Wellness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Introduces GlycA, a steadier inflammation marker. Includes a UI-style frame of three questions to bring to your next health check.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7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#F7F6F4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B4A1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#B4A195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745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#745543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36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#361F17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5278100" y="7143750"/>
            <a:ext cx="1407414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5278100" y="7143750"/>
            <a:ext cx="140741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Science explainer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6761714" y="7143750"/>
            <a:ext cx="78333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16761714" y="7143750"/>
            <a:ext cx="78333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UI frame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5" name="Picture 34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8" name="Picture 37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1" name="Picture 40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4" name="Picture 43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2400" y="603885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9" name="Picture 48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Wai  ·  Carousel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81% of doctors use AI at work. Which one are you using?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04   ›</a:t>
            </a:r>
          </a:p>
        </p:txBody>
      </p:sp>
      <p:pic>
        <p:nvPicPr>
          <p:cNvPr id="64" name="Picture 63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2857500"/>
            <a:ext cx="3962400" cy="4953000"/>
          </a:xfrm>
          <a:prstGeom prst="rect">
            <a:avLst/>
          </a:prstGeom>
        </p:spPr>
      </p:pic>
      <p:pic>
        <p:nvPicPr>
          <p:cNvPr id="65" name="Picture 64" descr="wai-doctors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0" y="2857500"/>
            <a:ext cx="3962400" cy="4953000"/>
          </a:xfrm>
          <a:prstGeom prst="rect">
            <a:avLst/>
          </a:prstGeom>
        </p:spPr>
      </p:pic>
      <p:pic>
        <p:nvPicPr>
          <p:cNvPr id="66" name="Picture 65" descr="wai-doctors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58550" y="2857500"/>
            <a:ext cx="3962400" cy="4953000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3314700" y="2838450"/>
            <a:ext cx="4000500" cy="4991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2390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766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7239000" y="7753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81550" y="7924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781550" y="7924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3750" y="834390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ALL FRAMES · 4</a:t>
            </a:r>
          </a:p>
        </p:txBody>
      </p:sp>
      <p:pic>
        <p:nvPicPr>
          <p:cNvPr id="77" name="Picture 76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3750" y="8610600"/>
            <a:ext cx="838200" cy="1047750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3305175" y="8582025"/>
            <a:ext cx="895350" cy="11049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wai-doctors-0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8610600"/>
            <a:ext cx="838200" cy="1047750"/>
          </a:xfrm>
          <a:prstGeom prst="rect">
            <a:avLst/>
          </a:prstGeom>
        </p:spPr>
      </p:pic>
      <p:pic>
        <p:nvPicPr>
          <p:cNvPr id="80" name="Picture 79" descr="wai-doctors-03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0650" y="8610600"/>
            <a:ext cx="838200" cy="1047750"/>
          </a:xfrm>
          <a:prstGeom prst="rect">
            <a:avLst/>
          </a:prstGeom>
        </p:spPr>
      </p:pic>
      <p:pic>
        <p:nvPicPr>
          <p:cNvPr id="81" name="Picture 80" descr="wai-doctors-0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34100" y="8610600"/>
            <a:ext cx="838200" cy="1047750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Wai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Carousel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Launch content for a medical AI assistant. Two questions to ask any AI tool, then an annotated product frame showing sources and doctor approval.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#F3F3F1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8C2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#8C2B24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3B5B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#3B5BAB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1E1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#1E1A19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5278100" y="7143750"/>
            <a:ext cx="1199388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15278100" y="7143750"/>
            <a:ext cx="119938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Product launch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6553688" y="7143750"/>
            <a:ext cx="1060704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6553688" y="7143750"/>
            <a:ext cx="106070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Annotated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21824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8867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5" name="Picture 34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8" name="Picture 37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1" name="Picture 40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4" name="Picture 43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8" name="Picture 47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2400" y="655320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Wellness · App walkthrough</a:t>
            </a:r>
          </a:p>
        </p:txBody>
      </p:sp>
      <p:pic>
        <p:nvPicPr>
          <p:cNvPr id="58" name="Picture 57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Wai  ·  Infographic  · 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1181100"/>
            <a:ext cx="9525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CEBE7"/>
                </a:solidFill>
                <a:latin typeface="Instrument Serif"/>
              </a:rPr>
              <a:t>How physicians spend a 57.8-hour workweek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3239750" y="1219200"/>
            <a:ext cx="1428750" cy="400050"/>
          </a:xfrm>
          <a:prstGeom prst="roundRect">
            <a:avLst>
              <a:gd name="adj" fmla="val 23809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3239750" y="121920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ECEBE7"/>
                </a:solidFill>
                <a:latin typeface="DM Mono"/>
              </a:rPr>
              <a:t>‹   01 / 01   ›</a:t>
            </a:r>
          </a:p>
        </p:txBody>
      </p:sp>
      <p:pic>
        <p:nvPicPr>
          <p:cNvPr id="64" name="Picture 63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750" y="2857500"/>
            <a:ext cx="4267200" cy="533400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3314700" y="2838450"/>
            <a:ext cx="4305300" cy="5372100"/>
          </a:xfrm>
          <a:prstGeom prst="rect">
            <a:avLst/>
          </a:prstGeom>
          <a:noFill/>
          <a:ln w="23812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32766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543800" y="2800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3276600" y="8134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543800" y="8134350"/>
            <a:ext cx="114300" cy="114300"/>
          </a:xfrm>
          <a:prstGeom prst="rect">
            <a:avLst/>
          </a:prstGeom>
          <a:solidFill>
            <a:srgbClr val="1C1B19"/>
          </a:solidFill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3314700" y="2571750"/>
            <a:ext cx="8763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314700" y="2571750"/>
            <a:ext cx="8763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Frame 01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933950" y="8305800"/>
            <a:ext cx="10668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933950" y="8305800"/>
            <a:ext cx="10668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1080 × 1350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5049500" y="619125"/>
            <a:ext cx="3238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5049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5278100" y="838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PROJECT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5278100" y="11620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Client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230600" y="11620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Wai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5278100" y="14668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230600" y="14668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Sans"/>
              </a:rPr>
              <a:t>Infographic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278100" y="17716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Frames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230600" y="17716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278100" y="20764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Format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230600" y="20764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1080 × 1350 · 4:5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278100" y="238125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7" b="0" i="0">
                <a:solidFill>
                  <a:srgbClr val="9B968F"/>
                </a:solidFill>
                <a:latin typeface="DM Sans"/>
              </a:rPr>
              <a:t>Year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230600" y="238125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87" b="0" i="0">
                <a:solidFill>
                  <a:srgbClr val="ECEBE7"/>
                </a:solidFill>
                <a:latin typeface="DM Mono"/>
              </a:rPr>
              <a:t>2026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278100" y="28003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15278100" y="30099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BRIEF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278100" y="3295650"/>
            <a:ext cx="27813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ECEBE7"/>
                </a:solidFill>
                <a:latin typeface="DM Sans"/>
              </a:rPr>
              <a:t>A single-frame infographic: a donut chart splitting direct patient care from admin work, set over a warm photographic backdrop.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5278100" y="52006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15278100" y="54102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COLOUR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5278100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5287625" y="5705475"/>
            <a:ext cx="633412" cy="457200"/>
          </a:xfrm>
          <a:prstGeom prst="rect">
            <a:avLst/>
          </a:prstGeom>
          <a:solidFill>
            <a:srgbClr val="F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15335250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#F3F0EC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987712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15997237" y="5705475"/>
            <a:ext cx="633412" cy="457200"/>
          </a:xfrm>
          <a:prstGeom prst="rect">
            <a:avLst/>
          </a:prstGeom>
          <a:solidFill>
            <a:srgbClr val="9C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16044862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#9C8A80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6697325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16706850" y="5705475"/>
            <a:ext cx="633412" cy="457200"/>
          </a:xfrm>
          <a:prstGeom prst="rect">
            <a:avLst/>
          </a:prstGeom>
          <a:solidFill>
            <a:srgbClr val="382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16754475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#382C24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7406937" y="5695950"/>
            <a:ext cx="652462" cy="723900"/>
          </a:xfrm>
          <a:prstGeom prst="roundRect">
            <a:avLst>
              <a:gd name="adj" fmla="val 11678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17416462" y="5705475"/>
            <a:ext cx="633412" cy="457200"/>
          </a:xfrm>
          <a:prstGeom prst="rect">
            <a:avLst/>
          </a:prstGeom>
          <a:solidFill>
            <a:srgbClr val="0B05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17464087" y="6210300"/>
            <a:ext cx="57626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7" b="0" i="0">
                <a:solidFill>
                  <a:srgbClr val="9B968F"/>
                </a:solidFill>
                <a:latin typeface="DM Mono"/>
              </a:rPr>
              <a:t>#0B0503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278100" y="6648450"/>
            <a:ext cx="27813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5278100" y="6858000"/>
            <a:ext cx="2781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TAGS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5278100" y="7143750"/>
            <a:ext cx="991362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5278100" y="7143750"/>
            <a:ext cx="991362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Infographic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6345662" y="7143750"/>
            <a:ext cx="783336" cy="285750"/>
          </a:xfrm>
          <a:prstGeom prst="roundRect">
            <a:avLst>
              <a:gd name="adj" fmla="val 23333"/>
            </a:avLst>
          </a:prstGeom>
          <a:solidFill>
            <a:srgbClr val="242320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16345662" y="7143750"/>
            <a:ext cx="783336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75" b="0" i="0">
                <a:solidFill>
                  <a:srgbClr val="ECEBE7"/>
                </a:solidFill>
                <a:latin typeface="DM Sans"/>
              </a:rPr>
              <a:t>Data viz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025" y="619125"/>
            <a:ext cx="15420975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49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9125"/>
            <a:ext cx="2857500" cy="9667875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57500" y="619125"/>
            <a:ext cx="9525" cy="966787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90500" y="800100"/>
            <a:ext cx="2476500" cy="361950"/>
          </a:xfrm>
          <a:prstGeom prst="roundRect">
            <a:avLst>
              <a:gd name="adj" fmla="val 21052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850" y="800100"/>
            <a:ext cx="21907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9B968F"/>
                </a:solidFill>
                <a:latin typeface="DM Sans"/>
              </a:rPr>
              <a:t>Filter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7650" y="1362075"/>
            <a:ext cx="276225" cy="342900"/>
          </a:xfrm>
          <a:prstGeom prst="roundRect">
            <a:avLst>
              <a:gd name="adj" fmla="val 10344"/>
            </a:avLst>
          </a:prstGeom>
          <a:noFill/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7650" y="1362075"/>
            <a:ext cx="276225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B968F"/>
                </a:solidFill>
                <a:latin typeface="DM Mono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" y="1314450"/>
            <a:ext cx="1619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ECEBE7"/>
                </a:solidFill>
                <a:latin typeface="DM Sans"/>
              </a:rPr>
              <a:t>All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7900" y="1314450"/>
            <a:ext cx="3619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650" y="18669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THE WELLNESS</a:t>
            </a:r>
          </a:p>
        </p:txBody>
      </p:sp>
      <p:pic>
        <p:nvPicPr>
          <p:cNvPr id="26" name="Picture 25" descr="cortisol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2171700"/>
            <a:ext cx="285750" cy="3619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8650" y="21145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Have you tried the cort…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4100" y="21145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29" name="Picture 28" descr="bloodtest-prep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2686050"/>
            <a:ext cx="285750" cy="3619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8650" y="26289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5 things to get right b…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24100" y="26289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2" name="Picture 31" descr="athletes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650" y="3200400"/>
            <a:ext cx="285750" cy="3619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8650" y="31432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science Gisele, Dav…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4100" y="31432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35" name="Picture 34" descr="heart-family-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3714750"/>
            <a:ext cx="285750" cy="3619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8650" y="36576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 inherit your eye co…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24100" y="36576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pic>
        <p:nvPicPr>
          <p:cNvPr id="38" name="Picture 37" descr="hair-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650" y="4229100"/>
            <a:ext cx="285750" cy="36195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28650" y="41719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hair isn't falling…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24100" y="41719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1" name="Picture 40" descr="fuller-picture-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650" y="4743450"/>
            <a:ext cx="285750" cy="36195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8650" y="46863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Your blood test says “n…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4100" y="46863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7</a:t>
            </a:r>
          </a:p>
        </p:txBody>
      </p:sp>
      <p:pic>
        <p:nvPicPr>
          <p:cNvPr id="44" name="Picture 43" descr="glyca-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650" y="5257800"/>
            <a:ext cx="285750" cy="3619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28650" y="52006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The inflammation signal…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24100" y="52006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650" y="57912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WAI</a:t>
            </a:r>
          </a:p>
        </p:txBody>
      </p:sp>
      <p:pic>
        <p:nvPicPr>
          <p:cNvPr id="48" name="Picture 47" descr="wai-doctors-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650" y="6096000"/>
            <a:ext cx="285750" cy="3619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28650" y="603885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81% of doctors use AI a…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24100" y="603885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4</a:t>
            </a:r>
          </a:p>
        </p:txBody>
      </p:sp>
      <p:pic>
        <p:nvPicPr>
          <p:cNvPr id="51" name="Picture 50" descr="wai-workweek-0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650" y="6610350"/>
            <a:ext cx="285750" cy="36195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28650" y="6553200"/>
            <a:ext cx="166687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ECEBE7"/>
                </a:solidFill>
                <a:latin typeface="DM Sans"/>
              </a:rPr>
              <a:t>How physicians spend a…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4100" y="6553200"/>
            <a:ext cx="285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9B968F"/>
                </a:solidFill>
                <a:latin typeface="DM Mono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7650" y="71437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0" i="0" spc="12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52400" y="739140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7650" y="7505700"/>
            <a:ext cx="419100" cy="23812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62000" y="739140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The Wellness · App walkthrough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52400" y="7905750"/>
            <a:ext cx="2552700" cy="476250"/>
          </a:xfrm>
          <a:prstGeom prst="roundRect">
            <a:avLst>
              <a:gd name="adj" fmla="val 16000"/>
            </a:avLst>
          </a:prstGeom>
          <a:solidFill>
            <a:srgbClr val="1F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7650" y="8020050"/>
            <a:ext cx="419100" cy="23812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62000" y="7905750"/>
            <a:ext cx="1809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12" b="0" i="0">
                <a:solidFill>
                  <a:srgbClr val="5B86FF"/>
                </a:solidFill>
                <a:latin typeface="DM Sans"/>
              </a:rPr>
              <a:t>Wai · Brand film stills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3750" y="9144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 i="0">
                <a:solidFill>
                  <a:srgbClr val="9B968F"/>
                </a:solidFill>
                <a:latin typeface="DM Sans"/>
              </a:rPr>
              <a:t>Motion  ·  2 pieces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3750" y="1181100"/>
            <a:ext cx="11430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750" b="0" i="0">
                <a:solidFill>
                  <a:srgbClr val="ECEBE7"/>
                </a:solidFill>
                <a:latin typeface="Instrument Serif"/>
              </a:rPr>
              <a:t>Product films and </a:t>
            </a:r>
            <a:r>
              <a:rPr sz="3750" b="0" i="1">
                <a:solidFill>
                  <a:srgbClr val="ECEBE7"/>
                </a:solidFill>
                <a:latin typeface="Instrument Serif"/>
              </a:rPr>
              <a:t>brand motion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33750" y="2190750"/>
            <a:ext cx="8382000" cy="5133975"/>
          </a:xfrm>
          <a:prstGeom prst="roundRect">
            <a:avLst>
              <a:gd name="adj" fmla="val 2597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3486150" y="2352675"/>
            <a:ext cx="104775" cy="104775"/>
          </a:xfrm>
          <a:prstGeom prst="ellipse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657600" y="2352675"/>
            <a:ext cx="104775" cy="104775"/>
          </a:xfrm>
          <a:prstGeom prst="ellipse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829050" y="2352675"/>
            <a:ext cx="104775" cy="104775"/>
          </a:xfrm>
          <a:prstGeom prst="ellipse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95750" y="2190750"/>
            <a:ext cx="4762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the-wellness-app.mp4</a:t>
            </a:r>
          </a:p>
        </p:txBody>
      </p:sp>
      <p:pic>
        <p:nvPicPr>
          <p:cNvPr id="68" name="Picture 67" descr="the-wellness-app-poster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3275" y="2609850"/>
            <a:ext cx="8362950" cy="4705350"/>
          </a:xfrm>
          <a:prstGeom prst="rect">
            <a:avLst/>
          </a:prstGeom>
        </p:spPr>
      </p:pic>
      <p:sp>
        <p:nvSpPr>
          <p:cNvPr id="69" name="Oval 68"/>
          <p:cNvSpPr/>
          <p:nvPr/>
        </p:nvSpPr>
        <p:spPr>
          <a:xfrm>
            <a:off x="7181850" y="4624387"/>
            <a:ext cx="685800" cy="685800"/>
          </a:xfrm>
          <a:prstGeom prst="ellipse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81850" y="4624387"/>
            <a:ext cx="7239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0" i="0">
                <a:solidFill>
                  <a:srgbClr val="FFFFFF"/>
                </a:solidFill>
                <a:latin typeface="DM Sans"/>
              </a:rPr>
              <a:t>▶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33750" y="7515225"/>
            <a:ext cx="8382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ECEBE7"/>
                </a:solidFill>
                <a:latin typeface="Instrument Serif"/>
              </a:rPr>
              <a:t>The Wellness · App walkthrough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33750" y="7877175"/>
            <a:ext cx="838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25" b="0" i="0">
                <a:solidFill>
                  <a:srgbClr val="9B968F"/>
                </a:solidFill>
                <a:latin typeface="DM Sans"/>
              </a:rPr>
              <a:t>A 30-second product film for the clinic app: home, booking calendar, treatment detail and confirmation, with 300 ms ease-out UI transitions.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096750" y="219075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50" b="0" i="0">
                <a:solidFill>
                  <a:srgbClr val="ECEBE7"/>
                </a:solidFill>
                <a:latin typeface="Instrument Serif"/>
              </a:rPr>
              <a:t>Wai · Brand film stills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096750" y="25908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VERTICAL FILM · KEY FRAMES</a:t>
            </a:r>
          </a:p>
        </p:txBody>
      </p:sp>
      <p:pic>
        <p:nvPicPr>
          <p:cNvPr id="75" name="Picture 74" descr="wai-film-explain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96750" y="2952750"/>
            <a:ext cx="3844636" cy="2114550"/>
          </a:xfrm>
          <a:prstGeom prst="rect">
            <a:avLst/>
          </a:prstGeom>
        </p:spPr>
      </p:pic>
      <p:pic>
        <p:nvPicPr>
          <p:cNvPr id="76" name="Picture 75" descr="wai-film-city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96750" y="5238750"/>
            <a:ext cx="3844636" cy="2114550"/>
          </a:xfrm>
          <a:prstGeom prst="rect">
            <a:avLst/>
          </a:prstGeom>
        </p:spPr>
      </p:pic>
      <p:pic>
        <p:nvPicPr>
          <p:cNvPr id="77" name="Picture 76" descr="wai-film-paperwork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96750" y="7524750"/>
            <a:ext cx="3850105" cy="2114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5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125"/>
            <a:ext cx="18288000" cy="9667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6096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609600"/>
            <a:ext cx="18288000" cy="9525"/>
          </a:xfrm>
          <a:prstGeom prst="rect">
            <a:avLst/>
          </a:prstGeom>
          <a:solidFill>
            <a:srgbClr val="2D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90500" y="15240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90500" y="133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50" b="0" i="1">
                <a:solidFill>
                  <a:srgbClr val="151412"/>
                </a:solidFill>
                <a:latin typeface="Instrument Serif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0500"/>
            <a:ext cx="1905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75" b="1" i="0">
                <a:solidFill>
                  <a:srgbClr val="ECEBE7"/>
                </a:solidFill>
                <a:latin typeface="DM Sans"/>
              </a:rPr>
              <a:t>River Geoff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200025"/>
            <a:ext cx="2286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9B968F"/>
                </a:solidFill>
                <a:latin typeface="DM Mono"/>
              </a:rPr>
              <a:t>portfolio-26.canvas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29550" y="114300"/>
            <a:ext cx="2628900" cy="381000"/>
          </a:xfrm>
          <a:prstGeom prst="roundRect">
            <a:avLst>
              <a:gd name="adj" fmla="val 25000"/>
            </a:avLst>
          </a:prstGeom>
          <a:solidFill>
            <a:srgbClr val="151412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8867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249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 i="0">
                <a:solidFill>
                  <a:srgbClr val="9B968F"/>
                </a:solidFill>
                <a:latin typeface="DM Sans"/>
              </a:rPr>
              <a:t>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63100" y="152400"/>
            <a:ext cx="838200" cy="304800"/>
          </a:xfrm>
          <a:prstGeom prst="roundRect">
            <a:avLst>
              <a:gd name="adj" fmla="val 21875"/>
            </a:avLst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63100" y="152400"/>
            <a:ext cx="838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ECEBE7"/>
                </a:solidFill>
                <a:latin typeface="DM Sans"/>
              </a:rPr>
              <a:t>About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764000" y="123825"/>
            <a:ext cx="1333500" cy="361950"/>
          </a:xfrm>
          <a:prstGeom prst="roundRect">
            <a:avLst>
              <a:gd name="adj" fmla="val 21052"/>
            </a:avLst>
          </a:prstGeom>
          <a:solidFill>
            <a:srgbClr val="E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764000" y="123825"/>
            <a:ext cx="13335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1" i="0">
                <a:solidFill>
                  <a:srgbClr val="151412"/>
                </a:solidFill>
                <a:latin typeface="DM Sans"/>
              </a:rPr>
              <a:t>Get in touch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381250"/>
            <a:ext cx="104775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0" b="0" i="0">
                <a:solidFill>
                  <a:srgbClr val="ECEBE7"/>
                </a:solidFill>
                <a:latin typeface="Instrument Serif"/>
              </a:rPr>
              <a:t>Let’s make
something that </a:t>
            </a:r>
            <a:r>
              <a:rPr sz="10500" b="0" i="1">
                <a:solidFill>
                  <a:srgbClr val="5B86FF"/>
                </a:solidFill>
                <a:latin typeface="Instrument Serif"/>
              </a:rPr>
              <a:t>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05500"/>
            <a:ext cx="2011680" cy="285750"/>
          </a:xfrm>
          <a:prstGeom prst="roundRect">
            <a:avLst>
              <a:gd name="adj" fmla="val 50000"/>
            </a:avLst>
          </a:prstGeom>
          <a:solidFill>
            <a:srgbClr val="1C1B19"/>
          </a:solidFill>
          <a:ln w="9525">
            <a:solidFill>
              <a:srgbClr val="2D2B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266825" y="6010275"/>
            <a:ext cx="76200" cy="76200"/>
          </a:xfrm>
          <a:prstGeom prst="ellipse">
            <a:avLst/>
          </a:prstGeom>
          <a:solidFill>
            <a:srgbClr val="4CC2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09700" y="5905500"/>
            <a:ext cx="172593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 i="0">
                <a:solidFill>
                  <a:srgbClr val="ECEBE7"/>
                </a:solidFill>
                <a:latin typeface="DM Sans"/>
              </a:rPr>
              <a:t>Open to freelance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662940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657225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ECEBE7"/>
                </a:solidFill>
                <a:latin typeface="DM Sans"/>
              </a:rPr>
              <a:t>hello@yourname.com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71056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PHONE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7000" y="704850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ECEBE7"/>
                </a:solidFill>
                <a:latin typeface="DM Sans"/>
              </a:rPr>
              <a:t>+63 900 000 0000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758190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INSTAGRAM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7000" y="752475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ECEBE7"/>
                </a:solidFill>
                <a:latin typeface="DM Sans"/>
              </a:rPr>
              <a:t>@yourhandle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80581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 spc="120">
                <a:solidFill>
                  <a:srgbClr val="9B968F"/>
                </a:solidFill>
                <a:latin typeface="DM Sans"/>
              </a:rPr>
              <a:t>BEHANCE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67000" y="8001000"/>
            <a:ext cx="6667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0" i="0">
                <a:solidFill>
                  <a:srgbClr val="ECEBE7"/>
                </a:solidFill>
                <a:latin typeface="DM Sans"/>
              </a:rPr>
              <a:t>behance.net/yourname</a:t>
            </a:r>
          </a:p>
        </p:txBody>
      </p:sp>
      <p:pic>
        <p:nvPicPr>
          <p:cNvPr id="29" name="Picture 28" descr="prof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00" y="1905000"/>
            <a:ext cx="4000500" cy="52959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3125450" y="1885950"/>
            <a:ext cx="4038600" cy="5334000"/>
          </a:xfrm>
          <a:prstGeom prst="rect">
            <a:avLst/>
          </a:prstGeom>
          <a:noFill/>
          <a:ln w="19050">
            <a:solidFill>
              <a:srgbClr val="5B8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3125450" y="1600200"/>
            <a:ext cx="1143000" cy="247650"/>
          </a:xfrm>
          <a:prstGeom prst="roundRect">
            <a:avLst>
              <a:gd name="adj" fmla="val 15384"/>
            </a:avLst>
          </a:prstGeom>
          <a:solidFill>
            <a:srgbClr val="5B8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3125450" y="16002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0C0C0C"/>
                </a:solidFill>
                <a:latin typeface="DM Mono"/>
              </a:rPr>
              <a:t>river-geoff.jpg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44500" y="7429500"/>
            <a:ext cx="4000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B968F"/>
                </a:solidFill>
                <a:latin typeface="DM Sans"/>
              </a:rPr>
              <a:t>River Geoff · Portfolio '26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