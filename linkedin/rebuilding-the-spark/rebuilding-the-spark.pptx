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6858000" cy="8572500"/>
  <p:notesSz cx="85725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https://doi.org/10.1037/1089-2680.5.2.100" TargetMode="External"/><Relationship Id="rId3" Type="http://schemas.openxmlformats.org/officeDocument/2006/relationships/hyperlink" Target="https://doi.org/10.1177/0963721413475622" TargetMode="External"/><Relationship Id="rId4" Type="http://schemas.openxmlformats.org/officeDocument/2006/relationships/hyperlink" Target="https://doi.org/10.1159/000445817" TargetMode="External"/><Relationship Id="rId5" Type="http://schemas.openxmlformats.org/officeDocument/2006/relationships/hyperlink" Target="https://doi.org/10.1037/a0024292" TargetMode="External"/><Relationship Id="rId6" Type="http://schemas.openxmlformats.org/officeDocument/2006/relationships/hyperlink" Target="https://doi.org/10.1016/j.copsyc.2022.101284" TargetMode="External"/><Relationship Id="rId1" Type="http://schemas.openxmlformats.org/officeDocument/2006/relationships/image" Target="../media/image-10-1.png"/><Relationship Id="rId7" Type="http://schemas.openxmlformats.org/officeDocument/2006/relationships/image" Target="../media/image-10-2.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0E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3873500" y="952500"/>
            <a:ext cx="3937000" cy="3937000"/>
          </a:xfrm>
          <a:prstGeom prst="rect">
            <a:avLst/>
          </a:prstGeom>
        </p:spPr>
      </p:pic>
      <p:pic>
        <p:nvPicPr>
          <p:cNvPr id="3" name="Image 1" descr="The Wellness">    </p:cNvPr>
          <p:cNvPicPr>
            <a:picLocks noChangeAspect="1"/>
          </p:cNvPicPr>
          <p:nvPr/>
        </p:nvPicPr>
        <p:blipFill>
          <a:blip r:embed="rId2"/>
          <a:stretch>
            <a:fillRect/>
          </a:stretch>
        </p:blipFill>
        <p:spPr>
          <a:xfrm>
            <a:off x="609600" y="685800"/>
            <a:ext cx="2540961" cy="368300"/>
          </a:xfrm>
          <a:prstGeom prst="rect">
            <a:avLst/>
          </a:prstGeom>
        </p:spPr>
      </p:pic>
      <p:sp>
        <p:nvSpPr>
          <p:cNvPr id="4" name="Text 0"/>
          <p:cNvSpPr txBox="1"/>
          <p:nvPr/>
        </p:nvSpPr>
        <p:spPr>
          <a:xfrm>
            <a:off x="3708400" y="609600"/>
            <a:ext cx="2540000" cy="444500"/>
          </a:xfrm>
          <a:prstGeom prst="rect">
            <a:avLst/>
          </a:prstGeom>
          <a:noFill/>
          <a:ln/>
        </p:spPr>
        <p:txBody>
          <a:bodyPr wrap="square" lIns="0" tIns="0" rIns="0" bIns="0" rtlCol="0" anchor="t"/>
          <a:lstStyle/>
          <a:p>
            <a:pPr algn="r" indent="0" marL="0">
              <a:lnSpc>
                <a:spcPts val="1300"/>
              </a:lnSpc>
              <a:buNone/>
            </a:pPr>
            <a:r>
              <a:rPr lang="en-US" sz="800" spc="160" kern="0" dirty="0">
                <a:solidFill>
                  <a:srgbClr val="7D6D5C"/>
                </a:solidFill>
                <a:latin typeface="Inter" pitchFamily="34" charset="0"/>
                <a:ea typeface="Inter" pitchFamily="34" charset="-122"/>
                <a:cs typeface="Inter" pitchFamily="34" charset="-120"/>
              </a:rPr>
              <a:t>ESSAY</a:t>
            </a:r>
            <a:endParaRPr lang="en-US" sz="800" dirty="0"/>
          </a:p>
          <a:p>
            <a:pPr algn="r" indent="0" marL="0">
              <a:lnSpc>
                <a:spcPts val="1300"/>
              </a:lnSpc>
              <a:buNone/>
            </a:pPr>
            <a:r>
              <a:rPr lang="en-US" sz="800" spc="160" kern="0" dirty="0">
                <a:solidFill>
                  <a:srgbClr val="7D6D5C"/>
                </a:solidFill>
                <a:latin typeface="Inter" pitchFamily="34" charset="0"/>
                <a:ea typeface="Inter" pitchFamily="34" charset="-122"/>
                <a:cs typeface="Inter" pitchFamily="34" charset="-120"/>
              </a:rPr>
              <a:t>IDENTITY &amp; GROWTH</a:t>
            </a:r>
            <a:endParaRPr lang="en-US" sz="800" dirty="0"/>
          </a:p>
        </p:txBody>
      </p:sp>
      <p:sp>
        <p:nvSpPr>
          <p:cNvPr id="5" name="Text 1"/>
          <p:cNvSpPr txBox="1"/>
          <p:nvPr/>
        </p:nvSpPr>
        <p:spPr>
          <a:xfrm>
            <a:off x="609600" y="3479800"/>
            <a:ext cx="5638800" cy="3175000"/>
          </a:xfrm>
          <a:prstGeom prst="rect">
            <a:avLst/>
          </a:prstGeom>
          <a:noFill/>
          <a:ln/>
        </p:spPr>
        <p:txBody>
          <a:bodyPr wrap="square" lIns="0" tIns="0" rIns="0" bIns="0" rtlCol="0" anchor="t"/>
          <a:lstStyle/>
          <a:p>
            <a:pPr indent="0" marL="0">
              <a:lnSpc>
                <a:spcPts val="6100"/>
              </a:lnSpc>
              <a:buNone/>
            </a:pPr>
            <a:r>
              <a:rPr lang="en-US" sz="6200" dirty="0">
                <a:solidFill>
                  <a:srgbClr val="3E2F23"/>
                </a:solidFill>
                <a:latin typeface="Playfair Display" pitchFamily="34" charset="0"/>
                <a:ea typeface="Playfair Display" pitchFamily="34" charset="-122"/>
                <a:cs typeface="Playfair Display" pitchFamily="34" charset="-120"/>
              </a:rPr>
              <a:t>Rebuilding</a:t>
            </a:r>
            <a:endParaRPr lang="en-US" sz="6200" dirty="0"/>
          </a:p>
          <a:p>
            <a:pPr indent="0" marL="0">
              <a:lnSpc>
                <a:spcPts val="6100"/>
              </a:lnSpc>
              <a:buNone/>
            </a:pPr>
            <a:r>
              <a:rPr lang="en-US" sz="6200" dirty="0">
                <a:solidFill>
                  <a:srgbClr val="3E2F23"/>
                </a:solidFill>
                <a:latin typeface="Playfair Display" pitchFamily="34" charset="0"/>
                <a:ea typeface="Playfair Display" pitchFamily="34" charset="-122"/>
                <a:cs typeface="Playfair Display" pitchFamily="34" charset="-120"/>
              </a:rPr>
              <a:t>the </a:t>
            </a:r>
            <a:pPr indent="0" marL="0">
              <a:lnSpc>
                <a:spcPts val="6100"/>
              </a:lnSpc>
              <a:buNone/>
            </a:pPr>
            <a:r>
              <a:rPr lang="en-US" sz="6200" i="1" dirty="0">
                <a:solidFill>
                  <a:srgbClr val="8A5E34"/>
                </a:solidFill>
                <a:latin typeface="Playfair Display" pitchFamily="34" charset="0"/>
                <a:ea typeface="Playfair Display" pitchFamily="34" charset="-122"/>
                <a:cs typeface="Playfair Display" pitchFamily="34" charset="-120"/>
              </a:rPr>
              <a:t>Spark</a:t>
            </a:r>
            <a:endParaRPr lang="en-US" sz="6200" dirty="0"/>
          </a:p>
          <a:p>
            <a:pPr indent="0" marL="0">
              <a:lnSpc>
                <a:spcPts val="6100"/>
              </a:lnSpc>
              <a:buNone/>
            </a:pPr>
            <a:r>
              <a:rPr lang="en-US" sz="6200" dirty="0">
                <a:solidFill>
                  <a:srgbClr val="3E2F23"/>
                </a:solidFill>
                <a:latin typeface="Playfair Display" pitchFamily="34" charset="0"/>
                <a:ea typeface="Playfair Display" pitchFamily="34" charset="-122"/>
                <a:cs typeface="Playfair Display" pitchFamily="34" charset="-120"/>
              </a:rPr>
              <a:t>We Thought</a:t>
            </a:r>
            <a:endParaRPr lang="en-US" sz="6200" dirty="0"/>
          </a:p>
          <a:p>
            <a:pPr indent="0" marL="0">
              <a:lnSpc>
                <a:spcPts val="6100"/>
              </a:lnSpc>
              <a:buNone/>
            </a:pPr>
            <a:r>
              <a:rPr lang="en-US" sz="6200" dirty="0">
                <a:solidFill>
                  <a:srgbClr val="3E2F23"/>
                </a:solidFill>
                <a:latin typeface="Playfair Display" pitchFamily="34" charset="0"/>
                <a:ea typeface="Playfair Display" pitchFamily="34" charset="-122"/>
                <a:cs typeface="Playfair Display" pitchFamily="34" charset="-120"/>
              </a:rPr>
              <a:t>We Lost</a:t>
            </a:r>
            <a:endParaRPr lang="en-US" sz="6200" dirty="0"/>
          </a:p>
        </p:txBody>
      </p:sp>
      <p:sp>
        <p:nvSpPr>
          <p:cNvPr id="6" name="Text 2"/>
          <p:cNvSpPr txBox="1"/>
          <p:nvPr/>
        </p:nvSpPr>
        <p:spPr>
          <a:xfrm>
            <a:off x="609600" y="6781800"/>
            <a:ext cx="4826000" cy="698500"/>
          </a:xfrm>
          <a:prstGeom prst="rect">
            <a:avLst/>
          </a:prstGeom>
          <a:noFill/>
          <a:ln/>
        </p:spPr>
        <p:txBody>
          <a:bodyPr wrap="square" lIns="0" tIns="0" rIns="0" bIns="0" rtlCol="0" anchor="t"/>
          <a:lstStyle/>
          <a:p>
            <a:pPr indent="0" marL="0">
              <a:lnSpc>
                <a:spcPts val="2400"/>
              </a:lnSpc>
              <a:buNone/>
            </a:pPr>
            <a:r>
              <a:rPr lang="en-US" sz="1700" i="1" dirty="0">
                <a:solidFill>
                  <a:srgbClr val="7D6D5C"/>
                </a:solidFill>
                <a:latin typeface="Newsreader" pitchFamily="34" charset="0"/>
                <a:ea typeface="Newsreader" pitchFamily="34" charset="-122"/>
                <a:cs typeface="Newsreader" pitchFamily="34" charset="-120"/>
              </a:rPr>
              <a:t>On memory, identity, and the quiet work of beginning again.</a:t>
            </a:r>
            <a:endParaRPr lang="en-US" sz="1700" dirty="0"/>
          </a:p>
        </p:txBody>
      </p:sp>
      <p:sp>
        <p:nvSpPr>
          <p:cNvPr id="7" name="Shape 3"/>
          <p:cNvSpPr/>
          <p:nvPr/>
        </p:nvSpPr>
        <p:spPr>
          <a:xfrm>
            <a:off x="609600" y="7740650"/>
            <a:ext cx="5638800" cy="0"/>
          </a:xfrm>
          <a:prstGeom prst="line">
            <a:avLst/>
          </a:prstGeom>
          <a:noFill/>
          <a:ln w="9525">
            <a:solidFill>
              <a:srgbClr val="D9CCBA"/>
            </a:solidFill>
            <a:prstDash val="solid"/>
          </a:ln>
        </p:spPr>
      </p:sp>
      <p:sp>
        <p:nvSpPr>
          <p:cNvPr id="8" name="Text 4"/>
          <p:cNvSpPr txBox="1"/>
          <p:nvPr/>
        </p:nvSpPr>
        <p:spPr>
          <a:xfrm>
            <a:off x="609600" y="7886700"/>
            <a:ext cx="3175000" cy="190500"/>
          </a:xfrm>
          <a:prstGeom prst="rect">
            <a:avLst/>
          </a:prstGeom>
          <a:noFill/>
          <a:ln/>
        </p:spPr>
        <p:txBody>
          <a:bodyPr wrap="square" lIns="0" tIns="0" rIns="0" bIns="0" rtlCol="0" anchor="t"/>
          <a:lstStyle/>
          <a:p>
            <a:pPr indent="0" marL="0">
              <a:buNone/>
            </a:pPr>
            <a:r>
              <a:rPr lang="en-US" sz="800" spc="160" kern="0" dirty="0">
                <a:solidFill>
                  <a:srgbClr val="7D6D5C"/>
                </a:solidFill>
                <a:latin typeface="Inter" pitchFamily="34" charset="0"/>
                <a:ea typeface="Inter" pitchFamily="34" charset="-122"/>
                <a:cs typeface="Inter" pitchFamily="34" charset="-120"/>
              </a:rPr>
              <a:t>A REFLECTION · 10 PAGES</a:t>
            </a:r>
            <a:endParaRPr lang="en-US" sz="800" dirty="0"/>
          </a:p>
        </p:txBody>
      </p:sp>
      <p:sp>
        <p:nvSpPr>
          <p:cNvPr id="9" name="Text 5"/>
          <p:cNvSpPr txBox="1"/>
          <p:nvPr/>
        </p:nvSpPr>
        <p:spPr>
          <a:xfrm>
            <a:off x="3708400" y="7886700"/>
            <a:ext cx="2540000" cy="190500"/>
          </a:xfrm>
          <a:prstGeom prst="rect">
            <a:avLst/>
          </a:prstGeom>
          <a:noFill/>
          <a:ln/>
        </p:spPr>
        <p:txBody>
          <a:bodyPr wrap="square" lIns="0" tIns="0" rIns="0" bIns="0" rtlCol="0" anchor="t"/>
          <a:lstStyle/>
          <a:p>
            <a:pPr algn="r" indent="0" marL="0">
              <a:buNone/>
            </a:pPr>
            <a:r>
              <a:rPr lang="en-US" sz="800" spc="160" kern="0" dirty="0">
                <a:solidFill>
                  <a:srgbClr val="8A5E34"/>
                </a:solidFill>
                <a:latin typeface="Inter" pitchFamily="34" charset="0"/>
                <a:ea typeface="Inter" pitchFamily="34" charset="-122"/>
                <a:cs typeface="Inter" pitchFamily="34" charset="-120"/>
              </a:rPr>
              <a:t>SWIPE TO READ →</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8F3"/>
        </a:solidFill>
      </p:bgPr>
    </p:bg>
    <p:spTree>
      <p:nvGrpSpPr>
        <p:cNvPr id="1" name=""/>
        <p:cNvGrpSpPr/>
        <p:nvPr/>
      </p:nvGrpSpPr>
      <p:grpSpPr>
        <a:xfrm>
          <a:off x="0" y="0"/>
          <a:ext cx="0" cy="0"/>
          <a:chOff x="0" y="0"/>
          <a:chExt cx="0" cy="0"/>
        </a:xfrm>
      </p:grpSpPr>
      <p:pic>
        <p:nvPicPr>
          <p:cNvPr id="2" name="Image 0" descr="The Wellness">    </p:cNvPr>
          <p:cNvPicPr>
            <a:picLocks noChangeAspect="1"/>
          </p:cNvPicPr>
          <p:nvPr/>
        </p:nvPicPr>
        <p:blipFill>
          <a:blip r:embed="rId1"/>
          <a:stretch>
            <a:fillRect/>
          </a:stretch>
        </p:blipFill>
        <p:spPr>
          <a:xfrm>
            <a:off x="609600" y="615950"/>
            <a:ext cx="1489529" cy="215900"/>
          </a:xfrm>
          <a:prstGeom prst="rect">
            <a:avLst/>
          </a:prstGeom>
        </p:spPr>
      </p:pic>
      <p:sp>
        <p:nvSpPr>
          <p:cNvPr id="3" name="Text 0"/>
          <p:cNvSpPr txBox="1"/>
          <p:nvPr/>
        </p:nvSpPr>
        <p:spPr>
          <a:xfrm>
            <a:off x="1905000" y="628650"/>
            <a:ext cx="3048000" cy="190500"/>
          </a:xfrm>
          <a:prstGeom prst="rect">
            <a:avLst/>
          </a:prstGeom>
          <a:noFill/>
          <a:ln/>
        </p:spPr>
        <p:txBody>
          <a:bodyPr wrap="square" lIns="0" tIns="0" rIns="0" bIns="0" rtlCol="0" anchor="t"/>
          <a:lstStyle/>
          <a:p>
            <a:pPr algn="ctr" indent="0" marL="0">
              <a:buNone/>
            </a:pPr>
            <a:r>
              <a:rPr lang="en-US" sz="850" spc="170" kern="0" dirty="0">
                <a:solidFill>
                  <a:srgbClr val="7D6D5C"/>
                </a:solidFill>
                <a:latin typeface="Inter" pitchFamily="34" charset="0"/>
                <a:ea typeface="Inter" pitchFamily="34" charset="-122"/>
                <a:cs typeface="Inter" pitchFamily="34" charset="-120"/>
              </a:rPr>
              <a:t>REBUILDING THE SPARK</a:t>
            </a:r>
            <a:endParaRPr lang="en-US" sz="850" dirty="0"/>
          </a:p>
        </p:txBody>
      </p:sp>
      <p:sp>
        <p:nvSpPr>
          <p:cNvPr id="4" name="Text 1"/>
          <p:cNvSpPr txBox="1"/>
          <p:nvPr/>
        </p:nvSpPr>
        <p:spPr>
          <a:xfrm>
            <a:off x="4978400" y="628650"/>
            <a:ext cx="1270000" cy="190500"/>
          </a:xfrm>
          <a:prstGeom prst="rect">
            <a:avLst/>
          </a:prstGeom>
          <a:noFill/>
          <a:ln/>
        </p:spPr>
        <p:txBody>
          <a:bodyPr wrap="square" lIns="0" tIns="0" rIns="0" bIns="0" rtlCol="0" anchor="t"/>
          <a:lstStyle/>
          <a:p>
            <a:pPr algn="r" indent="0" marL="0">
              <a:buNone/>
            </a:pPr>
            <a:r>
              <a:rPr lang="en-US" sz="850" spc="170" kern="0" dirty="0">
                <a:solidFill>
                  <a:srgbClr val="7D6D5C"/>
                </a:solidFill>
                <a:latin typeface="Inter" pitchFamily="34" charset="0"/>
                <a:ea typeface="Inter" pitchFamily="34" charset="-122"/>
                <a:cs typeface="Inter" pitchFamily="34" charset="-120"/>
              </a:rPr>
              <a:t>02 / 10</a:t>
            </a:r>
            <a:endParaRPr lang="en-US" sz="850" dirty="0"/>
          </a:p>
        </p:txBody>
      </p:sp>
      <p:sp>
        <p:nvSpPr>
          <p:cNvPr id="5" name="Shape 2"/>
          <p:cNvSpPr/>
          <p:nvPr/>
        </p:nvSpPr>
        <p:spPr>
          <a:xfrm>
            <a:off x="609600" y="1028700"/>
            <a:ext cx="5638800" cy="0"/>
          </a:xfrm>
          <a:prstGeom prst="line">
            <a:avLst/>
          </a:prstGeom>
          <a:noFill/>
          <a:ln w="9525">
            <a:solidFill>
              <a:srgbClr val="D9CCBA"/>
            </a:solidFill>
            <a:prstDash val="solid"/>
          </a:ln>
        </p:spPr>
      </p:sp>
      <p:sp>
        <p:nvSpPr>
          <p:cNvPr id="6" name="Text 3"/>
          <p:cNvSpPr txBox="1"/>
          <p:nvPr/>
        </p:nvSpPr>
        <p:spPr>
          <a:xfrm>
            <a:off x="609600" y="7848600"/>
            <a:ext cx="4445000" cy="190500"/>
          </a:xfrm>
          <a:prstGeom prst="rect">
            <a:avLst/>
          </a:prstGeom>
          <a:noFill/>
          <a:ln/>
        </p:spPr>
        <p:txBody>
          <a:bodyPr wrap="square" lIns="0" tIns="0" rIns="0" bIns="0" rtlCol="0" anchor="t"/>
          <a:lstStyle/>
          <a:p>
            <a:pPr indent="0" marL="0">
              <a:buNone/>
            </a:pPr>
            <a:r>
              <a:rPr lang="en-US" sz="800" spc="160" kern="0" dirty="0">
                <a:solidFill>
                  <a:srgbClr val="7D6D5C"/>
                </a:solidFill>
                <a:latin typeface="Inter" pitchFamily="34" charset="0"/>
                <a:ea typeface="Inter" pitchFamily="34" charset="-122"/>
                <a:cs typeface="Inter" pitchFamily="34" charset="-120"/>
              </a:rPr>
              <a:t>INTRODUCTION</a:t>
            </a:r>
            <a:endParaRPr lang="en-US" sz="800" dirty="0"/>
          </a:p>
        </p:txBody>
      </p:sp>
      <p:sp>
        <p:nvSpPr>
          <p:cNvPr id="7" name="Text 4"/>
          <p:cNvSpPr txBox="1"/>
          <p:nvPr/>
        </p:nvSpPr>
        <p:spPr>
          <a:xfrm>
            <a:off x="5613400" y="7823200"/>
            <a:ext cx="635000" cy="190500"/>
          </a:xfrm>
          <a:prstGeom prst="rect">
            <a:avLst/>
          </a:prstGeom>
          <a:noFill/>
          <a:ln/>
        </p:spPr>
        <p:txBody>
          <a:bodyPr wrap="square" lIns="0" tIns="0" rIns="0" bIns="0" rtlCol="0" anchor="t"/>
          <a:lstStyle/>
          <a:p>
            <a:pPr algn="r" indent="0" marL="0">
              <a:buNone/>
            </a:pPr>
            <a:r>
              <a:rPr lang="en-US" sz="1000" dirty="0">
                <a:solidFill>
                  <a:srgbClr val="8A5E34"/>
                </a:solidFill>
                <a:latin typeface="Inter" pitchFamily="34" charset="0"/>
                <a:ea typeface="Inter" pitchFamily="34" charset="-122"/>
                <a:cs typeface="Inter" pitchFamily="34" charset="-120"/>
              </a:rPr>
              <a:t>→</a:t>
            </a:r>
            <a:endParaRPr lang="en-US" sz="1000" dirty="0"/>
          </a:p>
        </p:txBody>
      </p:sp>
      <p:sp>
        <p:nvSpPr>
          <p:cNvPr id="8" name="Text 5"/>
          <p:cNvSpPr txBox="1"/>
          <p:nvPr/>
        </p:nvSpPr>
        <p:spPr>
          <a:xfrm>
            <a:off x="609600" y="2413000"/>
            <a:ext cx="5638800" cy="762000"/>
          </a:xfrm>
          <a:prstGeom prst="rect">
            <a:avLst/>
          </a:prstGeom>
          <a:noFill/>
          <a:ln/>
        </p:spPr>
        <p:txBody>
          <a:bodyPr wrap="square" lIns="0" tIns="0" rIns="0" bIns="0" rtlCol="0" anchor="t"/>
          <a:lstStyle/>
          <a:p>
            <a:pPr indent="0" marL="0">
              <a:lnSpc>
                <a:spcPts val="2600"/>
              </a:lnSpc>
              <a:buNone/>
            </a:pPr>
            <a:r>
              <a:rPr lang="en-US" sz="1900" i="1" dirty="0">
                <a:solidFill>
                  <a:srgbClr val="3E2F23"/>
                </a:solidFill>
                <a:latin typeface="Newsreader" pitchFamily="34" charset="0"/>
                <a:ea typeface="Newsreader" pitchFamily="34" charset="-122"/>
                <a:cs typeface="Newsreader" pitchFamily="34" charset="-120"/>
              </a:rPr>
              <a:t>There is a particular kind of grief that comes with losing one’s spark.</a:t>
            </a:r>
            <a:endParaRPr lang="en-US" sz="1900" dirty="0"/>
          </a:p>
        </p:txBody>
      </p:sp>
      <p:sp>
        <p:nvSpPr>
          <p:cNvPr id="9" name="Shape 6"/>
          <p:cNvSpPr/>
          <p:nvPr/>
        </p:nvSpPr>
        <p:spPr>
          <a:xfrm>
            <a:off x="609600" y="3352800"/>
            <a:ext cx="5638800" cy="0"/>
          </a:xfrm>
          <a:prstGeom prst="line">
            <a:avLst/>
          </a:prstGeom>
          <a:noFill/>
          <a:ln w="9525">
            <a:solidFill>
              <a:srgbClr val="D9CCBA"/>
            </a:solidFill>
            <a:prstDash val="solid"/>
          </a:ln>
        </p:spPr>
      </p:sp>
      <p:sp>
        <p:nvSpPr>
          <p:cNvPr id="10" name="Text 7"/>
          <p:cNvSpPr txBox="1"/>
          <p:nvPr/>
        </p:nvSpPr>
        <p:spPr>
          <a:xfrm>
            <a:off x="609600" y="3594100"/>
            <a:ext cx="5638800" cy="3556000"/>
          </a:xfrm>
          <a:prstGeom prst="rect">
            <a:avLst/>
          </a:prstGeom>
          <a:noFill/>
          <a:ln/>
        </p:spPr>
        <p:txBody>
          <a:bodyPr wrap="square" lIns="0" tIns="0" rIns="0" bIns="0" rtlCol="0" anchor="t"/>
          <a:lstStyle/>
          <a:p>
            <a:pPr indent="0" marL="0">
              <a:lnSpc>
                <a:spcPts val="2250"/>
              </a:lnSpc>
              <a:spcAft>
                <a:spcPts val="1100"/>
              </a:spcAft>
              <a:buNone/>
            </a:pPr>
            <a:r>
              <a:rPr lang="en-US" sz="1500" dirty="0">
                <a:solidFill>
                  <a:srgbClr val="2E231A"/>
                </a:solidFill>
                <a:latin typeface="Newsreader" pitchFamily="34" charset="0"/>
                <a:ea typeface="Newsreader" pitchFamily="34" charset="-122"/>
                <a:cs typeface="Newsreader" pitchFamily="34" charset="-120"/>
              </a:rPr>
              <a:t>It is not always dramatic or immediately visible. Sometimes, it happens quietly. It can emerge after a disappointing outcome despite significant effort, after losing someone meaningful, after a dream takes an unexpected direction, after a relationship ends, or after prolonged periods of stress slowly transform passion into simply trying to survive each day.</a:t>
            </a:r>
            <a:endParaRPr lang="en-US" sz="1500" dirty="0"/>
          </a:p>
          <a:p>
            <a:pPr indent="0" marL="0">
              <a:lnSpc>
                <a:spcPts val="2250"/>
              </a:lnSpc>
              <a:spcAft>
                <a:spcPts val="1100"/>
              </a:spcAft>
              <a:buNone/>
            </a:pPr>
            <a:r>
              <a:rPr lang="en-US" sz="1500" dirty="0">
                <a:solidFill>
                  <a:srgbClr val="2E231A"/>
                </a:solidFill>
                <a:latin typeface="Newsreader" pitchFamily="34" charset="0"/>
                <a:ea typeface="Newsreader" pitchFamily="34" charset="-122"/>
                <a:cs typeface="Newsreader" pitchFamily="34" charset="-120"/>
              </a:rPr>
              <a:t>Society often celebrates individuals who maintain their motivation, confidence, and sense of purpose. However, less attention is given to the moments when that inner spark begins to fade. The experience of rebuilding oneself after difficult seasons of life is rarely discussed, even though it is a meaningful part of human development.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8"/>
        </a:solidFill>
      </p:bgPr>
    </p:bg>
    <p:spTree>
      <p:nvGrpSpPr>
        <p:cNvPr id="1" name=""/>
        <p:cNvGrpSpPr/>
        <p:nvPr/>
      </p:nvGrpSpPr>
      <p:grpSpPr>
        <a:xfrm>
          <a:off x="0" y="0"/>
          <a:ext cx="0" cy="0"/>
          <a:chOff x="0" y="0"/>
          <a:chExt cx="0" cy="0"/>
        </a:xfrm>
      </p:grpSpPr>
      <p:pic>
        <p:nvPicPr>
          <p:cNvPr id="2" name="Image 0" descr="The Wellness">    </p:cNvPr>
          <p:cNvPicPr>
            <a:picLocks noChangeAspect="1"/>
          </p:cNvPicPr>
          <p:nvPr/>
        </p:nvPicPr>
        <p:blipFill>
          <a:blip r:embed="rId1"/>
          <a:stretch>
            <a:fillRect/>
          </a:stretch>
        </p:blipFill>
        <p:spPr>
          <a:xfrm>
            <a:off x="609600" y="615950"/>
            <a:ext cx="1489529" cy="215900"/>
          </a:xfrm>
          <a:prstGeom prst="rect">
            <a:avLst/>
          </a:prstGeom>
        </p:spPr>
      </p:pic>
      <p:sp>
        <p:nvSpPr>
          <p:cNvPr id="3" name="Text 0"/>
          <p:cNvSpPr txBox="1"/>
          <p:nvPr/>
        </p:nvSpPr>
        <p:spPr>
          <a:xfrm>
            <a:off x="1905000" y="628650"/>
            <a:ext cx="3048000" cy="190500"/>
          </a:xfrm>
          <a:prstGeom prst="rect">
            <a:avLst/>
          </a:prstGeom>
          <a:noFill/>
          <a:ln/>
        </p:spPr>
        <p:txBody>
          <a:bodyPr wrap="square" lIns="0" tIns="0" rIns="0" bIns="0" rtlCol="0" anchor="t"/>
          <a:lstStyle/>
          <a:p>
            <a:pPr algn="ctr" indent="0" marL="0">
              <a:buNone/>
            </a:pPr>
            <a:r>
              <a:rPr lang="en-US" sz="850" spc="170" kern="0" dirty="0">
                <a:solidFill>
                  <a:srgbClr val="7D6D5C"/>
                </a:solidFill>
                <a:latin typeface="Inter" pitchFamily="34" charset="0"/>
                <a:ea typeface="Inter" pitchFamily="34" charset="-122"/>
                <a:cs typeface="Inter" pitchFamily="34" charset="-120"/>
              </a:rPr>
              <a:t>REBUILDING THE SPARK</a:t>
            </a:r>
            <a:endParaRPr lang="en-US" sz="850" dirty="0"/>
          </a:p>
        </p:txBody>
      </p:sp>
      <p:sp>
        <p:nvSpPr>
          <p:cNvPr id="4" name="Text 1"/>
          <p:cNvSpPr txBox="1"/>
          <p:nvPr/>
        </p:nvSpPr>
        <p:spPr>
          <a:xfrm>
            <a:off x="4978400" y="628650"/>
            <a:ext cx="1270000" cy="190500"/>
          </a:xfrm>
          <a:prstGeom prst="rect">
            <a:avLst/>
          </a:prstGeom>
          <a:noFill/>
          <a:ln/>
        </p:spPr>
        <p:txBody>
          <a:bodyPr wrap="square" lIns="0" tIns="0" rIns="0" bIns="0" rtlCol="0" anchor="t"/>
          <a:lstStyle/>
          <a:p>
            <a:pPr algn="r" indent="0" marL="0">
              <a:buNone/>
            </a:pPr>
            <a:r>
              <a:rPr lang="en-US" sz="850" spc="170" kern="0" dirty="0">
                <a:solidFill>
                  <a:srgbClr val="7D6D5C"/>
                </a:solidFill>
                <a:latin typeface="Inter" pitchFamily="34" charset="0"/>
                <a:ea typeface="Inter" pitchFamily="34" charset="-122"/>
                <a:cs typeface="Inter" pitchFamily="34" charset="-120"/>
              </a:rPr>
              <a:t>03 / 10</a:t>
            </a:r>
            <a:endParaRPr lang="en-US" sz="850" dirty="0"/>
          </a:p>
        </p:txBody>
      </p:sp>
      <p:sp>
        <p:nvSpPr>
          <p:cNvPr id="5" name="Shape 2"/>
          <p:cNvSpPr/>
          <p:nvPr/>
        </p:nvSpPr>
        <p:spPr>
          <a:xfrm>
            <a:off x="609600" y="1028700"/>
            <a:ext cx="5638800" cy="0"/>
          </a:xfrm>
          <a:prstGeom prst="line">
            <a:avLst/>
          </a:prstGeom>
          <a:noFill/>
          <a:ln w="9525">
            <a:solidFill>
              <a:srgbClr val="D9CCBA"/>
            </a:solidFill>
            <a:prstDash val="solid"/>
          </a:ln>
        </p:spPr>
      </p:sp>
      <p:sp>
        <p:nvSpPr>
          <p:cNvPr id="6" name="Text 3"/>
          <p:cNvSpPr txBox="1"/>
          <p:nvPr/>
        </p:nvSpPr>
        <p:spPr>
          <a:xfrm>
            <a:off x="609600" y="7848600"/>
            <a:ext cx="4445000" cy="190500"/>
          </a:xfrm>
          <a:prstGeom prst="rect">
            <a:avLst/>
          </a:prstGeom>
          <a:noFill/>
          <a:ln/>
        </p:spPr>
        <p:txBody>
          <a:bodyPr wrap="square" lIns="0" tIns="0" rIns="0" bIns="0" rtlCol="0" anchor="t"/>
          <a:lstStyle/>
          <a:p>
            <a:pPr indent="0" marL="0">
              <a:buNone/>
            </a:pPr>
            <a:r>
              <a:rPr lang="en-US" sz="800" spc="160" kern="0" dirty="0">
                <a:solidFill>
                  <a:srgbClr val="7D6D5C"/>
                </a:solidFill>
                <a:latin typeface="Inter" pitchFamily="34" charset="0"/>
                <a:ea typeface="Inter" pitchFamily="34" charset="-122"/>
                <a:cs typeface="Inter" pitchFamily="34" charset="-120"/>
              </a:rPr>
              <a:t>NARRATIVE IDENTITY</a:t>
            </a:r>
            <a:endParaRPr lang="en-US" sz="800" dirty="0"/>
          </a:p>
        </p:txBody>
      </p:sp>
      <p:sp>
        <p:nvSpPr>
          <p:cNvPr id="7" name="Text 4"/>
          <p:cNvSpPr txBox="1"/>
          <p:nvPr/>
        </p:nvSpPr>
        <p:spPr>
          <a:xfrm>
            <a:off x="5613400" y="7823200"/>
            <a:ext cx="635000" cy="190500"/>
          </a:xfrm>
          <a:prstGeom prst="rect">
            <a:avLst/>
          </a:prstGeom>
          <a:noFill/>
          <a:ln/>
        </p:spPr>
        <p:txBody>
          <a:bodyPr wrap="square" lIns="0" tIns="0" rIns="0" bIns="0" rtlCol="0" anchor="t"/>
          <a:lstStyle/>
          <a:p>
            <a:pPr algn="r" indent="0" marL="0">
              <a:buNone/>
            </a:pPr>
            <a:r>
              <a:rPr lang="en-US" sz="1000" dirty="0">
                <a:solidFill>
                  <a:srgbClr val="8A5E34"/>
                </a:solidFill>
                <a:latin typeface="Inter" pitchFamily="34" charset="0"/>
                <a:ea typeface="Inter" pitchFamily="34" charset="-122"/>
                <a:cs typeface="Inter" pitchFamily="34" charset="-120"/>
              </a:rPr>
              <a:t>→</a:t>
            </a:r>
            <a:endParaRPr lang="en-US" sz="1000" dirty="0"/>
          </a:p>
        </p:txBody>
      </p:sp>
      <p:sp>
        <p:nvSpPr>
          <p:cNvPr id="8" name="Text 5"/>
          <p:cNvSpPr txBox="1"/>
          <p:nvPr/>
        </p:nvSpPr>
        <p:spPr>
          <a:xfrm>
            <a:off x="609600" y="1435100"/>
            <a:ext cx="3810000" cy="177800"/>
          </a:xfrm>
          <a:prstGeom prst="rect">
            <a:avLst/>
          </a:prstGeom>
          <a:noFill/>
          <a:ln/>
        </p:spPr>
        <p:txBody>
          <a:bodyPr wrap="square" lIns="0" tIns="0" rIns="0" bIns="0" rtlCol="0" anchor="t"/>
          <a:lstStyle/>
          <a:p>
            <a:pPr indent="0" marL="0">
              <a:buNone/>
            </a:pPr>
            <a:r>
              <a:rPr lang="en-US" sz="850" b="1" spc="170" kern="0" dirty="0">
                <a:solidFill>
                  <a:srgbClr val="8A5E34"/>
                </a:solidFill>
                <a:latin typeface="Inter" pitchFamily="34" charset="0"/>
                <a:ea typeface="Inter" pitchFamily="34" charset="-122"/>
                <a:cs typeface="Inter" pitchFamily="34" charset="-120"/>
              </a:rPr>
              <a:t>I · NARRATIVE</a:t>
            </a:r>
            <a:endParaRPr lang="en-US" sz="850" dirty="0"/>
          </a:p>
        </p:txBody>
      </p:sp>
      <p:sp>
        <p:nvSpPr>
          <p:cNvPr id="9" name="Shape 6"/>
          <p:cNvSpPr/>
          <p:nvPr/>
        </p:nvSpPr>
        <p:spPr>
          <a:xfrm>
            <a:off x="1896110" y="1504950"/>
            <a:ext cx="406400" cy="0"/>
          </a:xfrm>
          <a:prstGeom prst="line">
            <a:avLst/>
          </a:prstGeom>
          <a:noFill/>
          <a:ln w="9525">
            <a:solidFill>
              <a:srgbClr val="8A5E34"/>
            </a:solidFill>
            <a:prstDash val="solid"/>
          </a:ln>
        </p:spPr>
      </p:sp>
      <p:sp>
        <p:nvSpPr>
          <p:cNvPr id="10" name="Text 7"/>
          <p:cNvSpPr txBox="1"/>
          <p:nvPr/>
        </p:nvSpPr>
        <p:spPr>
          <a:xfrm>
            <a:off x="609600" y="1701800"/>
            <a:ext cx="5638800" cy="952500"/>
          </a:xfrm>
          <a:prstGeom prst="rect">
            <a:avLst/>
          </a:prstGeom>
          <a:noFill/>
          <a:ln/>
        </p:spPr>
        <p:txBody>
          <a:bodyPr wrap="square" lIns="0" tIns="0" rIns="0" bIns="0" rtlCol="0" anchor="t"/>
          <a:lstStyle/>
          <a:p>
            <a:pPr indent="0" marL="0">
              <a:lnSpc>
                <a:spcPts val="3456"/>
              </a:lnSpc>
              <a:buNone/>
            </a:pPr>
            <a:r>
              <a:rPr lang="en-US" sz="3200" dirty="0">
                <a:solidFill>
                  <a:srgbClr val="2E231A"/>
                </a:solidFill>
                <a:latin typeface="Playfair Display" pitchFamily="34" charset="0"/>
                <a:ea typeface="Playfair Display" pitchFamily="34" charset="-122"/>
                <a:cs typeface="Playfair Display" pitchFamily="34" charset="-120"/>
              </a:rPr>
              <a:t>The Stories We Tell Ourselves</a:t>
            </a:r>
            <a:endParaRPr lang="en-US" sz="3200" dirty="0"/>
          </a:p>
          <a:p>
            <a:pPr indent="0" marL="0">
              <a:lnSpc>
                <a:spcPts val="3456"/>
              </a:lnSpc>
              <a:buNone/>
            </a:pPr>
            <a:r>
              <a:rPr lang="en-US" sz="3200" dirty="0">
                <a:solidFill>
                  <a:srgbClr val="2E231A"/>
                </a:solidFill>
                <a:latin typeface="Playfair Display" pitchFamily="34" charset="0"/>
                <a:ea typeface="Playfair Display" pitchFamily="34" charset="-122"/>
                <a:cs typeface="Playfair Display" pitchFamily="34" charset="-120"/>
              </a:rPr>
              <a:t>Shape </a:t>
            </a:r>
            <a:pPr indent="0" marL="0">
              <a:lnSpc>
                <a:spcPts val="3456"/>
              </a:lnSpc>
              <a:buNone/>
            </a:pPr>
            <a:r>
              <a:rPr lang="en-US" sz="3200" i="1" dirty="0">
                <a:solidFill>
                  <a:srgbClr val="8A5E34"/>
                </a:solidFill>
                <a:latin typeface="Playfair Display" pitchFamily="34" charset="0"/>
                <a:ea typeface="Playfair Display" pitchFamily="34" charset="-122"/>
                <a:cs typeface="Playfair Display" pitchFamily="34" charset="-120"/>
              </a:rPr>
              <a:t>Who We Become</a:t>
            </a:r>
            <a:endParaRPr lang="en-US" sz="3200" dirty="0"/>
          </a:p>
        </p:txBody>
      </p:sp>
      <p:sp>
        <p:nvSpPr>
          <p:cNvPr id="11" name="Text 8"/>
          <p:cNvSpPr txBox="1"/>
          <p:nvPr/>
        </p:nvSpPr>
        <p:spPr>
          <a:xfrm>
            <a:off x="609600" y="2857500"/>
            <a:ext cx="5638800" cy="2984500"/>
          </a:xfrm>
          <a:prstGeom prst="rect">
            <a:avLst/>
          </a:prstGeom>
          <a:noFill/>
          <a:ln/>
        </p:spPr>
        <p:txBody>
          <a:bodyPr wrap="square" lIns="0" tIns="0" rIns="0" bIns="0" rtlCol="0" anchor="t"/>
          <a:lstStyle/>
          <a:p>
            <a:pPr indent="0" marL="0">
              <a:lnSpc>
                <a:spcPts val="2250"/>
              </a:lnSpc>
              <a:spcAft>
                <a:spcPts val="1100"/>
              </a:spcAft>
              <a:buNone/>
            </a:pPr>
            <a:r>
              <a:rPr lang="en-US" sz="1500" dirty="0">
                <a:solidFill>
                  <a:srgbClr val="2E231A"/>
                </a:solidFill>
                <a:latin typeface="Newsreader" pitchFamily="34" charset="0"/>
                <a:ea typeface="Newsreader" pitchFamily="34" charset="-122"/>
                <a:cs typeface="Newsreader" pitchFamily="34" charset="-120"/>
              </a:rPr>
              <a:t>Psychologists have long explored how individuals create meaning from their experiences. Through autobiographical memory, people preserve important moments that contribute to their sense of identity and continuity. These memories become part of the personal narratives people construct about who they were, who they are, and who they hope to become </a:t>
            </a:r>
            <a:pPr indent="0" marL="0">
              <a:lnSpc>
                <a:spcPts val="2250"/>
              </a:lnSpc>
              <a:spcAft>
                <a:spcPts val="1100"/>
              </a:spcAft>
              <a:buNone/>
            </a:pPr>
            <a:r>
              <a:rPr lang="en-US" sz="1200" i="1" dirty="0">
                <a:solidFill>
                  <a:srgbClr val="7D6D5C"/>
                </a:solidFill>
                <a:latin typeface="Newsreader" pitchFamily="34" charset="0"/>
                <a:ea typeface="Newsreader" pitchFamily="34" charset="-122"/>
                <a:cs typeface="Newsreader" pitchFamily="34" charset="-120"/>
              </a:rPr>
              <a:t>(McAdams, 2001; McAdams &amp; McLean, 2013)</a:t>
            </a:r>
            <a:pPr indent="0" marL="0">
              <a:lnSpc>
                <a:spcPts val="2250"/>
              </a:lnSpc>
              <a:spcAft>
                <a:spcPts val="1100"/>
              </a:spcAft>
              <a:buNone/>
            </a:pPr>
            <a:r>
              <a:rPr lang="en-US" sz="1500" dirty="0">
                <a:solidFill>
                  <a:srgbClr val="2E231A"/>
                </a:solidFill>
                <a:latin typeface="Newsreader" pitchFamily="34" charset="0"/>
                <a:ea typeface="Newsreader" pitchFamily="34" charset="-122"/>
                <a:cs typeface="Newsreader" pitchFamily="34" charset="-120"/>
              </a:rPr>
              <a:t>.</a:t>
            </a:r>
            <a:endParaRPr lang="en-US" sz="1500" dirty="0"/>
          </a:p>
          <a:p>
            <a:pPr indent="0" marL="0">
              <a:lnSpc>
                <a:spcPts val="2250"/>
              </a:lnSpc>
              <a:spcAft>
                <a:spcPts val="1100"/>
              </a:spcAft>
              <a:buNone/>
            </a:pPr>
            <a:r>
              <a:rPr lang="en-US" sz="1500" dirty="0">
                <a:solidFill>
                  <a:srgbClr val="2E231A"/>
                </a:solidFill>
                <a:latin typeface="Newsreader" pitchFamily="34" charset="0"/>
                <a:ea typeface="Newsreader" pitchFamily="34" charset="-122"/>
                <a:cs typeface="Newsreader" pitchFamily="34" charset="-120"/>
              </a:rPr>
              <a:t>Life experiences are not simply remembered as isolated events. Instead, they are often organized into stories that help individuals understand change, growth, and personal transformation.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8"/>
        </a:solidFill>
      </p:bgPr>
    </p:bg>
    <p:spTree>
      <p:nvGrpSpPr>
        <p:cNvPr id="1" name=""/>
        <p:cNvGrpSpPr/>
        <p:nvPr/>
      </p:nvGrpSpPr>
      <p:grpSpPr>
        <a:xfrm>
          <a:off x="0" y="0"/>
          <a:ext cx="0" cy="0"/>
          <a:chOff x="0" y="0"/>
          <a:chExt cx="0" cy="0"/>
        </a:xfrm>
      </p:grpSpPr>
      <p:pic>
        <p:nvPicPr>
          <p:cNvPr id="2" name="Image 0" descr="The Wellness">    </p:cNvPr>
          <p:cNvPicPr>
            <a:picLocks noChangeAspect="1"/>
          </p:cNvPicPr>
          <p:nvPr/>
        </p:nvPicPr>
        <p:blipFill>
          <a:blip r:embed="rId1"/>
          <a:stretch>
            <a:fillRect/>
          </a:stretch>
        </p:blipFill>
        <p:spPr>
          <a:xfrm>
            <a:off x="609600" y="615950"/>
            <a:ext cx="1489529" cy="215900"/>
          </a:xfrm>
          <a:prstGeom prst="rect">
            <a:avLst/>
          </a:prstGeom>
        </p:spPr>
      </p:pic>
      <p:sp>
        <p:nvSpPr>
          <p:cNvPr id="3" name="Text 0"/>
          <p:cNvSpPr txBox="1"/>
          <p:nvPr/>
        </p:nvSpPr>
        <p:spPr>
          <a:xfrm>
            <a:off x="1905000" y="628650"/>
            <a:ext cx="3048000" cy="190500"/>
          </a:xfrm>
          <a:prstGeom prst="rect">
            <a:avLst/>
          </a:prstGeom>
          <a:noFill/>
          <a:ln/>
        </p:spPr>
        <p:txBody>
          <a:bodyPr wrap="square" lIns="0" tIns="0" rIns="0" bIns="0" rtlCol="0" anchor="t"/>
          <a:lstStyle/>
          <a:p>
            <a:pPr algn="ctr" indent="0" marL="0">
              <a:buNone/>
            </a:pPr>
            <a:r>
              <a:rPr lang="en-US" sz="850" spc="170" kern="0" dirty="0">
                <a:solidFill>
                  <a:srgbClr val="7D6D5C"/>
                </a:solidFill>
                <a:latin typeface="Inter" pitchFamily="34" charset="0"/>
                <a:ea typeface="Inter" pitchFamily="34" charset="-122"/>
                <a:cs typeface="Inter" pitchFamily="34" charset="-120"/>
              </a:rPr>
              <a:t>REBUILDING THE SPARK</a:t>
            </a:r>
            <a:endParaRPr lang="en-US" sz="850" dirty="0"/>
          </a:p>
        </p:txBody>
      </p:sp>
      <p:sp>
        <p:nvSpPr>
          <p:cNvPr id="4" name="Text 1"/>
          <p:cNvSpPr txBox="1"/>
          <p:nvPr/>
        </p:nvSpPr>
        <p:spPr>
          <a:xfrm>
            <a:off x="4978400" y="628650"/>
            <a:ext cx="1270000" cy="190500"/>
          </a:xfrm>
          <a:prstGeom prst="rect">
            <a:avLst/>
          </a:prstGeom>
          <a:noFill/>
          <a:ln/>
        </p:spPr>
        <p:txBody>
          <a:bodyPr wrap="square" lIns="0" tIns="0" rIns="0" bIns="0" rtlCol="0" anchor="t"/>
          <a:lstStyle/>
          <a:p>
            <a:pPr algn="r" indent="0" marL="0">
              <a:buNone/>
            </a:pPr>
            <a:r>
              <a:rPr lang="en-US" sz="850" spc="170" kern="0" dirty="0">
                <a:solidFill>
                  <a:srgbClr val="7D6D5C"/>
                </a:solidFill>
                <a:latin typeface="Inter" pitchFamily="34" charset="0"/>
                <a:ea typeface="Inter" pitchFamily="34" charset="-122"/>
                <a:cs typeface="Inter" pitchFamily="34" charset="-120"/>
              </a:rPr>
              <a:t>04 / 10</a:t>
            </a:r>
            <a:endParaRPr lang="en-US" sz="850" dirty="0"/>
          </a:p>
        </p:txBody>
      </p:sp>
      <p:sp>
        <p:nvSpPr>
          <p:cNvPr id="5" name="Shape 2"/>
          <p:cNvSpPr/>
          <p:nvPr/>
        </p:nvSpPr>
        <p:spPr>
          <a:xfrm>
            <a:off x="609600" y="1028700"/>
            <a:ext cx="5638800" cy="0"/>
          </a:xfrm>
          <a:prstGeom prst="line">
            <a:avLst/>
          </a:prstGeom>
          <a:noFill/>
          <a:ln w="9525">
            <a:solidFill>
              <a:srgbClr val="D9CCBA"/>
            </a:solidFill>
            <a:prstDash val="solid"/>
          </a:ln>
        </p:spPr>
      </p:sp>
      <p:sp>
        <p:nvSpPr>
          <p:cNvPr id="6" name="Text 3"/>
          <p:cNvSpPr txBox="1"/>
          <p:nvPr/>
        </p:nvSpPr>
        <p:spPr>
          <a:xfrm>
            <a:off x="609600" y="7848600"/>
            <a:ext cx="4445000" cy="190500"/>
          </a:xfrm>
          <a:prstGeom prst="rect">
            <a:avLst/>
          </a:prstGeom>
          <a:noFill/>
          <a:ln/>
        </p:spPr>
        <p:txBody>
          <a:bodyPr wrap="square" lIns="0" tIns="0" rIns="0" bIns="0" rtlCol="0" anchor="t"/>
          <a:lstStyle/>
          <a:p>
            <a:pPr indent="0" marL="0">
              <a:buNone/>
            </a:pPr>
            <a:r>
              <a:rPr lang="en-US" sz="800" spc="160" kern="0" dirty="0">
                <a:solidFill>
                  <a:srgbClr val="7D6D5C"/>
                </a:solidFill>
                <a:latin typeface="Inter" pitchFamily="34" charset="0"/>
                <a:ea typeface="Inter" pitchFamily="34" charset="-122"/>
                <a:cs typeface="Inter" pitchFamily="34" charset="-120"/>
              </a:rPr>
              <a:t>GRIEVING THE PAST SELF</a:t>
            </a:r>
            <a:endParaRPr lang="en-US" sz="800" dirty="0"/>
          </a:p>
        </p:txBody>
      </p:sp>
      <p:sp>
        <p:nvSpPr>
          <p:cNvPr id="7" name="Text 4"/>
          <p:cNvSpPr txBox="1"/>
          <p:nvPr/>
        </p:nvSpPr>
        <p:spPr>
          <a:xfrm>
            <a:off x="5613400" y="7823200"/>
            <a:ext cx="635000" cy="190500"/>
          </a:xfrm>
          <a:prstGeom prst="rect">
            <a:avLst/>
          </a:prstGeom>
          <a:noFill/>
          <a:ln/>
        </p:spPr>
        <p:txBody>
          <a:bodyPr wrap="square" lIns="0" tIns="0" rIns="0" bIns="0" rtlCol="0" anchor="t"/>
          <a:lstStyle/>
          <a:p>
            <a:pPr algn="r" indent="0" marL="0">
              <a:buNone/>
            </a:pPr>
            <a:r>
              <a:rPr lang="en-US" sz="1000" dirty="0">
                <a:solidFill>
                  <a:srgbClr val="8A5E34"/>
                </a:solidFill>
                <a:latin typeface="Inter" pitchFamily="34" charset="0"/>
                <a:ea typeface="Inter" pitchFamily="34" charset="-122"/>
                <a:cs typeface="Inter" pitchFamily="34" charset="-120"/>
              </a:rPr>
              <a:t>→</a:t>
            </a:r>
            <a:endParaRPr lang="en-US" sz="1000" dirty="0"/>
          </a:p>
        </p:txBody>
      </p:sp>
      <p:sp>
        <p:nvSpPr>
          <p:cNvPr id="8" name="Text 5"/>
          <p:cNvSpPr txBox="1"/>
          <p:nvPr/>
        </p:nvSpPr>
        <p:spPr>
          <a:xfrm>
            <a:off x="609600" y="1409700"/>
            <a:ext cx="5638800" cy="1206500"/>
          </a:xfrm>
          <a:prstGeom prst="rect">
            <a:avLst/>
          </a:prstGeom>
          <a:noFill/>
          <a:ln/>
        </p:spPr>
        <p:txBody>
          <a:bodyPr wrap="square" lIns="0" tIns="0" rIns="0" bIns="0" rtlCol="0" anchor="t"/>
          <a:lstStyle/>
          <a:p>
            <a:pPr indent="0" marL="0">
              <a:lnSpc>
                <a:spcPts val="2250"/>
              </a:lnSpc>
              <a:buNone/>
            </a:pPr>
            <a:r>
              <a:rPr lang="en-US" sz="1500" dirty="0">
                <a:solidFill>
                  <a:srgbClr val="2E231A"/>
                </a:solidFill>
                <a:latin typeface="Newsreader" pitchFamily="34" charset="0"/>
                <a:ea typeface="Newsreader" pitchFamily="34" charset="-122"/>
                <a:cs typeface="Newsreader" pitchFamily="34" charset="-120"/>
              </a:rPr>
              <a:t>This is why certain chapters of life continue to hold emotional significance. People often return to memories of earlier versions of themselves, particularly those that existed before major changes occurred.</a:t>
            </a:r>
            <a:endParaRPr lang="en-US" sz="1500" dirty="0"/>
          </a:p>
        </p:txBody>
      </p:sp>
      <p:sp>
        <p:nvSpPr>
          <p:cNvPr id="9" name="Shape 6"/>
          <p:cNvSpPr/>
          <p:nvPr/>
        </p:nvSpPr>
        <p:spPr>
          <a:xfrm>
            <a:off x="609600" y="2838450"/>
            <a:ext cx="5638800" cy="0"/>
          </a:xfrm>
          <a:prstGeom prst="line">
            <a:avLst/>
          </a:prstGeom>
          <a:noFill/>
          <a:ln w="19050">
            <a:solidFill>
              <a:srgbClr val="3E2F23"/>
            </a:solidFill>
            <a:prstDash val="solid"/>
          </a:ln>
        </p:spPr>
      </p:sp>
      <p:sp>
        <p:nvSpPr>
          <p:cNvPr id="10" name="Text 7"/>
          <p:cNvSpPr txBox="1"/>
          <p:nvPr/>
        </p:nvSpPr>
        <p:spPr>
          <a:xfrm>
            <a:off x="609600" y="3022600"/>
            <a:ext cx="5638800" cy="1079500"/>
          </a:xfrm>
          <a:prstGeom prst="rect">
            <a:avLst/>
          </a:prstGeom>
          <a:noFill/>
          <a:ln/>
        </p:spPr>
        <p:txBody>
          <a:bodyPr wrap="square" lIns="0" tIns="0" rIns="0" bIns="0" rtlCol="0" anchor="t"/>
          <a:lstStyle/>
          <a:p>
            <a:pPr indent="0" marL="0">
              <a:lnSpc>
                <a:spcPts val="2650"/>
              </a:lnSpc>
              <a:buNone/>
            </a:pPr>
            <a:r>
              <a:rPr lang="en-US" sz="2100" i="1" dirty="0">
                <a:solidFill>
                  <a:srgbClr val="C89B6D"/>
                </a:solidFill>
                <a:latin typeface="Playfair Display" pitchFamily="34" charset="0"/>
                <a:ea typeface="Playfair Display" pitchFamily="34" charset="-122"/>
                <a:cs typeface="Playfair Display" pitchFamily="34" charset="-120"/>
              </a:rPr>
              <a:t>“</a:t>
            </a:r>
            <a:pPr indent="0" marL="0">
              <a:lnSpc>
                <a:spcPts val="2650"/>
              </a:lnSpc>
              <a:buNone/>
            </a:pPr>
            <a:r>
              <a:rPr lang="en-US" sz="2100" i="1" dirty="0">
                <a:solidFill>
                  <a:srgbClr val="3E2F23"/>
                </a:solidFill>
                <a:latin typeface="Playfair Display" pitchFamily="34" charset="0"/>
                <a:ea typeface="Playfair Display" pitchFamily="34" charset="-122"/>
                <a:cs typeface="Playfair Display" pitchFamily="34" charset="-120"/>
              </a:rPr>
              <a:t>These memories may represent periods of confidence, curiosity, hope, or purpose that feel distant during times of uncertainty.</a:t>
            </a:r>
            <a:pPr indent="0" marL="0">
              <a:lnSpc>
                <a:spcPts val="2650"/>
              </a:lnSpc>
              <a:buNone/>
            </a:pPr>
            <a:r>
              <a:rPr lang="en-US" sz="2100" i="1" dirty="0">
                <a:solidFill>
                  <a:srgbClr val="C89B6D"/>
                </a:solidFill>
                <a:latin typeface="Playfair Display" pitchFamily="34" charset="0"/>
                <a:ea typeface="Playfair Display" pitchFamily="34" charset="-122"/>
                <a:cs typeface="Playfair Display" pitchFamily="34" charset="-120"/>
              </a:rPr>
              <a:t>”</a:t>
            </a:r>
            <a:endParaRPr lang="en-US" sz="2100" dirty="0"/>
          </a:p>
        </p:txBody>
      </p:sp>
      <p:sp>
        <p:nvSpPr>
          <p:cNvPr id="11" name="Shape 8"/>
          <p:cNvSpPr/>
          <p:nvPr/>
        </p:nvSpPr>
        <p:spPr>
          <a:xfrm>
            <a:off x="609600" y="4305300"/>
            <a:ext cx="5638800" cy="0"/>
          </a:xfrm>
          <a:prstGeom prst="line">
            <a:avLst/>
          </a:prstGeom>
          <a:noFill/>
          <a:ln w="9525">
            <a:solidFill>
              <a:srgbClr val="D9CCBA"/>
            </a:solidFill>
            <a:prstDash val="solid"/>
          </a:ln>
        </p:spPr>
      </p:sp>
      <p:sp>
        <p:nvSpPr>
          <p:cNvPr id="12" name="Text 9"/>
          <p:cNvSpPr txBox="1"/>
          <p:nvPr/>
        </p:nvSpPr>
        <p:spPr>
          <a:xfrm>
            <a:off x="609600" y="4711700"/>
            <a:ext cx="3810000" cy="177800"/>
          </a:xfrm>
          <a:prstGeom prst="rect">
            <a:avLst/>
          </a:prstGeom>
          <a:noFill/>
          <a:ln/>
        </p:spPr>
        <p:txBody>
          <a:bodyPr wrap="square" lIns="0" tIns="0" rIns="0" bIns="0" rtlCol="0" anchor="t"/>
          <a:lstStyle/>
          <a:p>
            <a:pPr indent="0" marL="0">
              <a:buNone/>
            </a:pPr>
            <a:r>
              <a:rPr lang="en-US" sz="850" b="1" spc="170" kern="0" dirty="0">
                <a:solidFill>
                  <a:srgbClr val="8A5E34"/>
                </a:solidFill>
                <a:latin typeface="Inter" pitchFamily="34" charset="0"/>
                <a:ea typeface="Inter" pitchFamily="34" charset="-122"/>
                <a:cs typeface="Inter" pitchFamily="34" charset="-120"/>
              </a:rPr>
              <a:t>II · LOSS</a:t>
            </a:r>
            <a:endParaRPr lang="en-US" sz="850" dirty="0"/>
          </a:p>
        </p:txBody>
      </p:sp>
      <p:sp>
        <p:nvSpPr>
          <p:cNvPr id="13" name="Shape 10"/>
          <p:cNvSpPr/>
          <p:nvPr/>
        </p:nvSpPr>
        <p:spPr>
          <a:xfrm>
            <a:off x="1535430" y="4781550"/>
            <a:ext cx="406400" cy="0"/>
          </a:xfrm>
          <a:prstGeom prst="line">
            <a:avLst/>
          </a:prstGeom>
          <a:noFill/>
          <a:ln w="9525">
            <a:solidFill>
              <a:srgbClr val="8A5E34"/>
            </a:solidFill>
            <a:prstDash val="solid"/>
          </a:ln>
        </p:spPr>
      </p:sp>
      <p:sp>
        <p:nvSpPr>
          <p:cNvPr id="14" name="Text 11"/>
          <p:cNvSpPr txBox="1"/>
          <p:nvPr/>
        </p:nvSpPr>
        <p:spPr>
          <a:xfrm>
            <a:off x="609600" y="4991100"/>
            <a:ext cx="5638800" cy="952500"/>
          </a:xfrm>
          <a:prstGeom prst="rect">
            <a:avLst/>
          </a:prstGeom>
          <a:noFill/>
          <a:ln/>
        </p:spPr>
        <p:txBody>
          <a:bodyPr wrap="square" lIns="0" tIns="0" rIns="0" bIns="0" rtlCol="0" anchor="t"/>
          <a:lstStyle/>
          <a:p>
            <a:pPr indent="0" marL="0">
              <a:lnSpc>
                <a:spcPts val="3456"/>
              </a:lnSpc>
              <a:buNone/>
            </a:pPr>
            <a:r>
              <a:rPr lang="en-US" sz="3200" dirty="0">
                <a:solidFill>
                  <a:srgbClr val="2E231A"/>
                </a:solidFill>
                <a:latin typeface="Playfair Display" pitchFamily="34" charset="0"/>
                <a:ea typeface="Playfair Display" pitchFamily="34" charset="-122"/>
                <a:cs typeface="Playfair Display" pitchFamily="34" charset="-120"/>
              </a:rPr>
              <a:t>Grieving the Person</a:t>
            </a:r>
            <a:endParaRPr lang="en-US" sz="3200" dirty="0"/>
          </a:p>
          <a:p>
            <a:pPr indent="0" marL="0">
              <a:lnSpc>
                <a:spcPts val="3456"/>
              </a:lnSpc>
              <a:buNone/>
            </a:pPr>
            <a:pPr indent="0" marL="0">
              <a:lnSpc>
                <a:spcPts val="3456"/>
              </a:lnSpc>
              <a:buNone/>
            </a:pPr>
            <a:r>
              <a:rPr lang="en-US" sz="3200" i="1" dirty="0">
                <a:solidFill>
                  <a:srgbClr val="8A5E34"/>
                </a:solidFill>
                <a:latin typeface="Playfair Display" pitchFamily="34" charset="0"/>
                <a:ea typeface="Playfair Display" pitchFamily="34" charset="-122"/>
                <a:cs typeface="Playfair Display" pitchFamily="34" charset="-120"/>
              </a:rPr>
              <a:t>We Used to Be</a:t>
            </a:r>
            <a:endParaRPr lang="en-US" sz="3200" dirty="0"/>
          </a:p>
        </p:txBody>
      </p:sp>
      <p:sp>
        <p:nvSpPr>
          <p:cNvPr id="15" name="Text 12"/>
          <p:cNvSpPr txBox="1"/>
          <p:nvPr/>
        </p:nvSpPr>
        <p:spPr>
          <a:xfrm>
            <a:off x="609600" y="6064250"/>
            <a:ext cx="5638800" cy="1206500"/>
          </a:xfrm>
          <a:prstGeom prst="rect">
            <a:avLst/>
          </a:prstGeom>
          <a:noFill/>
          <a:ln/>
        </p:spPr>
        <p:txBody>
          <a:bodyPr wrap="square" lIns="0" tIns="0" rIns="0" bIns="0" rtlCol="0" anchor="t"/>
          <a:lstStyle/>
          <a:p>
            <a:pPr indent="0" marL="0">
              <a:lnSpc>
                <a:spcPts val="2250"/>
              </a:lnSpc>
              <a:buNone/>
            </a:pPr>
            <a:r>
              <a:rPr lang="en-US" sz="1500" dirty="0">
                <a:solidFill>
                  <a:srgbClr val="2E231A"/>
                </a:solidFill>
                <a:latin typeface="Newsreader" pitchFamily="34" charset="0"/>
                <a:ea typeface="Newsreader" pitchFamily="34" charset="-122"/>
                <a:cs typeface="Newsreader" pitchFamily="34" charset="-120"/>
              </a:rPr>
              <a:t>At times, what people grieve is not only who they used to be, but also the emotions associated with that version of themselves. They may miss a previous sense of confidence, excitement, belonging, or direction.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3E2F23"/>
        </a:solidFill>
      </p:bgPr>
    </p:bg>
    <p:spTree>
      <p:nvGrpSpPr>
        <p:cNvPr id="1" name=""/>
        <p:cNvGrpSpPr/>
        <p:nvPr/>
      </p:nvGrpSpPr>
      <p:grpSpPr>
        <a:xfrm>
          <a:off x="0" y="0"/>
          <a:ext cx="0" cy="0"/>
          <a:chOff x="0" y="0"/>
          <a:chExt cx="0" cy="0"/>
        </a:xfrm>
      </p:grpSpPr>
      <p:pic>
        <p:nvPicPr>
          <p:cNvPr id="2" name="Image 0" descr="The Wellness">    </p:cNvPr>
          <p:cNvPicPr>
            <a:picLocks noChangeAspect="1"/>
          </p:cNvPicPr>
          <p:nvPr/>
        </p:nvPicPr>
        <p:blipFill>
          <a:blip r:embed="rId1"/>
          <a:stretch>
            <a:fillRect/>
          </a:stretch>
        </p:blipFill>
        <p:spPr>
          <a:xfrm>
            <a:off x="609600" y="615950"/>
            <a:ext cx="1489529" cy="215900"/>
          </a:xfrm>
          <a:prstGeom prst="rect">
            <a:avLst/>
          </a:prstGeom>
        </p:spPr>
      </p:pic>
      <p:sp>
        <p:nvSpPr>
          <p:cNvPr id="3" name="Text 0"/>
          <p:cNvSpPr txBox="1"/>
          <p:nvPr/>
        </p:nvSpPr>
        <p:spPr>
          <a:xfrm>
            <a:off x="1905000" y="628650"/>
            <a:ext cx="3048000" cy="190500"/>
          </a:xfrm>
          <a:prstGeom prst="rect">
            <a:avLst/>
          </a:prstGeom>
          <a:noFill/>
          <a:ln/>
        </p:spPr>
        <p:txBody>
          <a:bodyPr wrap="square" lIns="0" tIns="0" rIns="0" bIns="0" rtlCol="0" anchor="t"/>
          <a:lstStyle/>
          <a:p>
            <a:pPr algn="ctr" indent="0" marL="0">
              <a:buNone/>
            </a:pPr>
            <a:r>
              <a:rPr lang="en-US" sz="850" spc="170" kern="0" dirty="0">
                <a:solidFill>
                  <a:srgbClr val="B8A691"/>
                </a:solidFill>
                <a:latin typeface="Inter" pitchFamily="34" charset="0"/>
                <a:ea typeface="Inter" pitchFamily="34" charset="-122"/>
                <a:cs typeface="Inter" pitchFamily="34" charset="-120"/>
              </a:rPr>
              <a:t>REBUILDING THE SPARK</a:t>
            </a:r>
            <a:endParaRPr lang="en-US" sz="850" dirty="0"/>
          </a:p>
        </p:txBody>
      </p:sp>
      <p:sp>
        <p:nvSpPr>
          <p:cNvPr id="4" name="Text 1"/>
          <p:cNvSpPr txBox="1"/>
          <p:nvPr/>
        </p:nvSpPr>
        <p:spPr>
          <a:xfrm>
            <a:off x="4978400" y="628650"/>
            <a:ext cx="1270000" cy="190500"/>
          </a:xfrm>
          <a:prstGeom prst="rect">
            <a:avLst/>
          </a:prstGeom>
          <a:noFill/>
          <a:ln/>
        </p:spPr>
        <p:txBody>
          <a:bodyPr wrap="square" lIns="0" tIns="0" rIns="0" bIns="0" rtlCol="0" anchor="t"/>
          <a:lstStyle/>
          <a:p>
            <a:pPr algn="r" indent="0" marL="0">
              <a:buNone/>
            </a:pPr>
            <a:r>
              <a:rPr lang="en-US" sz="850" spc="170" kern="0" dirty="0">
                <a:solidFill>
                  <a:srgbClr val="B8A691"/>
                </a:solidFill>
                <a:latin typeface="Inter" pitchFamily="34" charset="0"/>
                <a:ea typeface="Inter" pitchFamily="34" charset="-122"/>
                <a:cs typeface="Inter" pitchFamily="34" charset="-120"/>
              </a:rPr>
              <a:t>05 / 10</a:t>
            </a:r>
            <a:endParaRPr lang="en-US" sz="850" dirty="0"/>
          </a:p>
        </p:txBody>
      </p:sp>
      <p:sp>
        <p:nvSpPr>
          <p:cNvPr id="5" name="Shape 2"/>
          <p:cNvSpPr/>
          <p:nvPr/>
        </p:nvSpPr>
        <p:spPr>
          <a:xfrm>
            <a:off x="609600" y="1028700"/>
            <a:ext cx="5638800" cy="0"/>
          </a:xfrm>
          <a:prstGeom prst="line">
            <a:avLst/>
          </a:prstGeom>
          <a:noFill/>
          <a:ln w="9525">
            <a:solidFill>
              <a:srgbClr val="5D4F43"/>
            </a:solidFill>
            <a:prstDash val="solid"/>
          </a:ln>
        </p:spPr>
      </p:sp>
      <p:sp>
        <p:nvSpPr>
          <p:cNvPr id="6" name="Text 3"/>
          <p:cNvSpPr txBox="1"/>
          <p:nvPr/>
        </p:nvSpPr>
        <p:spPr>
          <a:xfrm>
            <a:off x="609600" y="7848600"/>
            <a:ext cx="4445000" cy="190500"/>
          </a:xfrm>
          <a:prstGeom prst="rect">
            <a:avLst/>
          </a:prstGeom>
          <a:noFill/>
          <a:ln/>
        </p:spPr>
        <p:txBody>
          <a:bodyPr wrap="square" lIns="0" tIns="0" rIns="0" bIns="0" rtlCol="0" anchor="t"/>
          <a:lstStyle/>
          <a:p>
            <a:pPr indent="0" marL="0">
              <a:buNone/>
            </a:pPr>
            <a:r>
              <a:rPr lang="en-US" sz="800" spc="160" kern="0" dirty="0">
                <a:solidFill>
                  <a:srgbClr val="B8A691"/>
                </a:solidFill>
                <a:latin typeface="Inter" pitchFamily="34" charset="0"/>
                <a:ea typeface="Inter" pitchFamily="34" charset="-122"/>
                <a:cs typeface="Inter" pitchFamily="34" charset="-120"/>
              </a:rPr>
              <a:t>GRIEVING THE PAST SELF</a:t>
            </a:r>
            <a:endParaRPr lang="en-US" sz="800" dirty="0"/>
          </a:p>
        </p:txBody>
      </p:sp>
      <p:sp>
        <p:nvSpPr>
          <p:cNvPr id="7" name="Text 4"/>
          <p:cNvSpPr txBox="1"/>
          <p:nvPr/>
        </p:nvSpPr>
        <p:spPr>
          <a:xfrm>
            <a:off x="5613400" y="7823200"/>
            <a:ext cx="635000" cy="190500"/>
          </a:xfrm>
          <a:prstGeom prst="rect">
            <a:avLst/>
          </a:prstGeom>
          <a:noFill/>
          <a:ln/>
        </p:spPr>
        <p:txBody>
          <a:bodyPr wrap="square" lIns="0" tIns="0" rIns="0" bIns="0" rtlCol="0" anchor="t"/>
          <a:lstStyle/>
          <a:p>
            <a:pPr algn="r" indent="0" marL="0">
              <a:buNone/>
            </a:pPr>
            <a:r>
              <a:rPr lang="en-US" sz="1000" dirty="0">
                <a:solidFill>
                  <a:srgbClr val="C89B6D"/>
                </a:solidFill>
                <a:latin typeface="Inter" pitchFamily="34" charset="0"/>
                <a:ea typeface="Inter" pitchFamily="34" charset="-122"/>
                <a:cs typeface="Inter" pitchFamily="34" charset="-120"/>
              </a:rPr>
              <a:t>→</a:t>
            </a:r>
            <a:endParaRPr lang="en-US" sz="1000" dirty="0"/>
          </a:p>
        </p:txBody>
      </p:sp>
      <p:sp>
        <p:nvSpPr>
          <p:cNvPr id="8" name="Text 5"/>
          <p:cNvSpPr txBox="1"/>
          <p:nvPr/>
        </p:nvSpPr>
        <p:spPr>
          <a:xfrm>
            <a:off x="609600" y="1301750"/>
            <a:ext cx="5207000" cy="1206500"/>
          </a:xfrm>
          <a:prstGeom prst="rect">
            <a:avLst/>
          </a:prstGeom>
          <a:noFill/>
          <a:ln/>
        </p:spPr>
        <p:txBody>
          <a:bodyPr wrap="square" lIns="0" tIns="0" rIns="0" bIns="0" rtlCol="0" anchor="t"/>
          <a:lstStyle/>
          <a:p>
            <a:pPr indent="0" marL="0">
              <a:lnSpc>
                <a:spcPts val="2250"/>
              </a:lnSpc>
              <a:buNone/>
            </a:pPr>
            <a:r>
              <a:rPr lang="en-US" sz="1500" dirty="0">
                <a:solidFill>
                  <a:srgbClr val="EDE5D9"/>
                </a:solidFill>
                <a:latin typeface="Newsreader" pitchFamily="34" charset="0"/>
                <a:ea typeface="Newsreader" pitchFamily="34" charset="-122"/>
                <a:cs typeface="Newsreader" pitchFamily="34" charset="-120"/>
              </a:rPr>
              <a:t>This experience is a natural part of adapting to change. Identity is not a fixed concept; it continues to develop as individuals encounter new experiences and reinterpret their past </a:t>
            </a:r>
            <a:pPr indent="0" marL="0">
              <a:lnSpc>
                <a:spcPts val="2250"/>
              </a:lnSpc>
              <a:buNone/>
            </a:pPr>
            <a:r>
              <a:rPr lang="en-US" sz="1200" i="1" dirty="0">
                <a:solidFill>
                  <a:srgbClr val="B8A691"/>
                </a:solidFill>
                <a:latin typeface="Newsreader" pitchFamily="34" charset="0"/>
                <a:ea typeface="Newsreader" pitchFamily="34" charset="-122"/>
                <a:cs typeface="Newsreader" pitchFamily="34" charset="-120"/>
              </a:rPr>
              <a:t>(McLean &amp; Syed, 2015)</a:t>
            </a:r>
            <a:pPr indent="0" marL="0">
              <a:lnSpc>
                <a:spcPts val="2250"/>
              </a:lnSpc>
              <a:buNone/>
            </a:pPr>
            <a:r>
              <a:rPr lang="en-US" sz="1500" dirty="0">
                <a:solidFill>
                  <a:srgbClr val="EDE5D9"/>
                </a:solidFill>
                <a:latin typeface="Newsreader" pitchFamily="34" charset="0"/>
                <a:ea typeface="Newsreader" pitchFamily="34" charset="-122"/>
                <a:cs typeface="Newsreader" pitchFamily="34" charset="-120"/>
              </a:rPr>
              <a:t>.</a:t>
            </a:r>
            <a:endParaRPr lang="en-US" sz="1500" dirty="0"/>
          </a:p>
        </p:txBody>
      </p:sp>
      <p:sp>
        <p:nvSpPr>
          <p:cNvPr id="9" name="Shape 6"/>
          <p:cNvSpPr/>
          <p:nvPr/>
        </p:nvSpPr>
        <p:spPr>
          <a:xfrm>
            <a:off x="609600" y="2698750"/>
            <a:ext cx="5638800" cy="0"/>
          </a:xfrm>
          <a:prstGeom prst="line">
            <a:avLst/>
          </a:prstGeom>
          <a:noFill/>
          <a:ln w="9525">
            <a:solidFill>
              <a:srgbClr val="5D4F43"/>
            </a:solidFill>
            <a:prstDash val="solid"/>
          </a:ln>
        </p:spPr>
      </p:sp>
      <p:sp>
        <p:nvSpPr>
          <p:cNvPr id="10" name="Text 7"/>
          <p:cNvSpPr txBox="1"/>
          <p:nvPr/>
        </p:nvSpPr>
        <p:spPr>
          <a:xfrm>
            <a:off x="609600" y="2984500"/>
            <a:ext cx="1270000" cy="698500"/>
          </a:xfrm>
          <a:prstGeom prst="rect">
            <a:avLst/>
          </a:prstGeom>
          <a:noFill/>
          <a:ln/>
        </p:spPr>
        <p:txBody>
          <a:bodyPr wrap="square" lIns="0" tIns="0" rIns="0" bIns="0" rtlCol="0" anchor="t"/>
          <a:lstStyle/>
          <a:p>
            <a:pPr indent="0" marL="0">
              <a:lnSpc>
                <a:spcPts val="7500"/>
              </a:lnSpc>
              <a:buNone/>
            </a:pPr>
            <a:r>
              <a:rPr lang="en-US" sz="8000" dirty="0">
                <a:solidFill>
                  <a:srgbClr val="C89B6D"/>
                </a:solidFill>
                <a:latin typeface="Playfair Display" pitchFamily="34" charset="0"/>
                <a:ea typeface="Playfair Display" pitchFamily="34" charset="-122"/>
                <a:cs typeface="Playfair Display" pitchFamily="34" charset="-120"/>
              </a:rPr>
              <a:t>“</a:t>
            </a:r>
            <a:endParaRPr lang="en-US" sz="8000" dirty="0"/>
          </a:p>
        </p:txBody>
      </p:sp>
      <p:sp>
        <p:nvSpPr>
          <p:cNvPr id="11" name="Text 8"/>
          <p:cNvSpPr txBox="1"/>
          <p:nvPr/>
        </p:nvSpPr>
        <p:spPr>
          <a:xfrm>
            <a:off x="609600" y="3746500"/>
            <a:ext cx="5207000" cy="2540000"/>
          </a:xfrm>
          <a:prstGeom prst="rect">
            <a:avLst/>
          </a:prstGeom>
          <a:noFill/>
          <a:ln/>
        </p:spPr>
        <p:txBody>
          <a:bodyPr wrap="square" lIns="0" tIns="0" rIns="0" bIns="0" rtlCol="0" anchor="t"/>
          <a:lstStyle/>
          <a:p>
            <a:pPr indent="0" marL="0">
              <a:lnSpc>
                <a:spcPts val="3800"/>
              </a:lnSpc>
              <a:buNone/>
            </a:pPr>
            <a:r>
              <a:rPr lang="en-US" sz="3400" i="1" dirty="0">
                <a:solidFill>
                  <a:srgbClr val="F5F0E8"/>
                </a:solidFill>
                <a:latin typeface="Playfair Display" pitchFamily="34" charset="0"/>
                <a:ea typeface="Playfair Display" pitchFamily="34" charset="-122"/>
                <a:cs typeface="Playfair Display" pitchFamily="34" charset="-120"/>
              </a:rPr>
              <a:t>Missing a previous version of oneself does not necessarily mean dissatisfaction with the present.</a:t>
            </a:r>
            <a:endParaRPr lang="en-US" sz="3400" dirty="0"/>
          </a:p>
        </p:txBody>
      </p:sp>
      <p:sp>
        <p:nvSpPr>
          <p:cNvPr id="12" name="Text 9"/>
          <p:cNvSpPr txBox="1"/>
          <p:nvPr/>
        </p:nvSpPr>
        <p:spPr>
          <a:xfrm>
            <a:off x="609600" y="6540500"/>
            <a:ext cx="5207000" cy="698500"/>
          </a:xfrm>
          <a:prstGeom prst="rect">
            <a:avLst/>
          </a:prstGeom>
          <a:noFill/>
          <a:ln/>
        </p:spPr>
        <p:txBody>
          <a:bodyPr wrap="square" lIns="0" tIns="0" rIns="0" bIns="0" rtlCol="0" anchor="t"/>
          <a:lstStyle/>
          <a:p>
            <a:pPr indent="0" marL="0">
              <a:lnSpc>
                <a:spcPts val="2350"/>
              </a:lnSpc>
              <a:buNone/>
            </a:pPr>
            <a:r>
              <a:rPr lang="en-US" sz="1600" i="1" dirty="0">
                <a:solidFill>
                  <a:srgbClr val="B8A691"/>
                </a:solidFill>
                <a:latin typeface="Newsreader" pitchFamily="34" charset="0"/>
                <a:ea typeface="Newsreader" pitchFamily="34" charset="-122"/>
                <a:cs typeface="Newsreader" pitchFamily="34" charset="-120"/>
              </a:rPr>
              <a:t>Instead, it can reflect an awareness of how deeply meaningful certain periods of life have been.</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8F3"/>
        </a:solidFill>
      </p:bgPr>
    </p:bg>
    <p:spTree>
      <p:nvGrpSpPr>
        <p:cNvPr id="1" name=""/>
        <p:cNvGrpSpPr/>
        <p:nvPr/>
      </p:nvGrpSpPr>
      <p:grpSpPr>
        <a:xfrm>
          <a:off x="0" y="0"/>
          <a:ext cx="0" cy="0"/>
          <a:chOff x="0" y="0"/>
          <a:chExt cx="0" cy="0"/>
        </a:xfrm>
      </p:grpSpPr>
      <p:pic>
        <p:nvPicPr>
          <p:cNvPr id="2" name="Image 0" descr="The Wellness">    </p:cNvPr>
          <p:cNvPicPr>
            <a:picLocks noChangeAspect="1"/>
          </p:cNvPicPr>
          <p:nvPr/>
        </p:nvPicPr>
        <p:blipFill>
          <a:blip r:embed="rId1"/>
          <a:stretch>
            <a:fillRect/>
          </a:stretch>
        </p:blipFill>
        <p:spPr>
          <a:xfrm>
            <a:off x="609600" y="615950"/>
            <a:ext cx="1489529" cy="215900"/>
          </a:xfrm>
          <a:prstGeom prst="rect">
            <a:avLst/>
          </a:prstGeom>
        </p:spPr>
      </p:pic>
      <p:sp>
        <p:nvSpPr>
          <p:cNvPr id="3" name="Text 0"/>
          <p:cNvSpPr txBox="1"/>
          <p:nvPr/>
        </p:nvSpPr>
        <p:spPr>
          <a:xfrm>
            <a:off x="1905000" y="628650"/>
            <a:ext cx="3048000" cy="190500"/>
          </a:xfrm>
          <a:prstGeom prst="rect">
            <a:avLst/>
          </a:prstGeom>
          <a:noFill/>
          <a:ln/>
        </p:spPr>
        <p:txBody>
          <a:bodyPr wrap="square" lIns="0" tIns="0" rIns="0" bIns="0" rtlCol="0" anchor="t"/>
          <a:lstStyle/>
          <a:p>
            <a:pPr algn="ctr" indent="0" marL="0">
              <a:buNone/>
            </a:pPr>
            <a:r>
              <a:rPr lang="en-US" sz="850" spc="170" kern="0" dirty="0">
                <a:solidFill>
                  <a:srgbClr val="7D6D5C"/>
                </a:solidFill>
                <a:latin typeface="Inter" pitchFamily="34" charset="0"/>
                <a:ea typeface="Inter" pitchFamily="34" charset="-122"/>
                <a:cs typeface="Inter" pitchFamily="34" charset="-120"/>
              </a:rPr>
              <a:t>REBUILDING THE SPARK</a:t>
            </a:r>
            <a:endParaRPr lang="en-US" sz="850" dirty="0"/>
          </a:p>
        </p:txBody>
      </p:sp>
      <p:sp>
        <p:nvSpPr>
          <p:cNvPr id="4" name="Text 1"/>
          <p:cNvSpPr txBox="1"/>
          <p:nvPr/>
        </p:nvSpPr>
        <p:spPr>
          <a:xfrm>
            <a:off x="4978400" y="628650"/>
            <a:ext cx="1270000" cy="190500"/>
          </a:xfrm>
          <a:prstGeom prst="rect">
            <a:avLst/>
          </a:prstGeom>
          <a:noFill/>
          <a:ln/>
        </p:spPr>
        <p:txBody>
          <a:bodyPr wrap="square" lIns="0" tIns="0" rIns="0" bIns="0" rtlCol="0" anchor="t"/>
          <a:lstStyle/>
          <a:p>
            <a:pPr algn="r" indent="0" marL="0">
              <a:buNone/>
            </a:pPr>
            <a:r>
              <a:rPr lang="en-US" sz="850" spc="170" kern="0" dirty="0">
                <a:solidFill>
                  <a:srgbClr val="7D6D5C"/>
                </a:solidFill>
                <a:latin typeface="Inter" pitchFamily="34" charset="0"/>
                <a:ea typeface="Inter" pitchFamily="34" charset="-122"/>
                <a:cs typeface="Inter" pitchFamily="34" charset="-120"/>
              </a:rPr>
              <a:t>06 / 10</a:t>
            </a:r>
            <a:endParaRPr lang="en-US" sz="850" dirty="0"/>
          </a:p>
        </p:txBody>
      </p:sp>
      <p:sp>
        <p:nvSpPr>
          <p:cNvPr id="5" name="Shape 2"/>
          <p:cNvSpPr/>
          <p:nvPr/>
        </p:nvSpPr>
        <p:spPr>
          <a:xfrm>
            <a:off x="609600" y="1028700"/>
            <a:ext cx="5638800" cy="0"/>
          </a:xfrm>
          <a:prstGeom prst="line">
            <a:avLst/>
          </a:prstGeom>
          <a:noFill/>
          <a:ln w="9525">
            <a:solidFill>
              <a:srgbClr val="D9CCBA"/>
            </a:solidFill>
            <a:prstDash val="solid"/>
          </a:ln>
        </p:spPr>
      </p:sp>
      <p:sp>
        <p:nvSpPr>
          <p:cNvPr id="6" name="Text 3"/>
          <p:cNvSpPr txBox="1"/>
          <p:nvPr/>
        </p:nvSpPr>
        <p:spPr>
          <a:xfrm>
            <a:off x="609600" y="7848600"/>
            <a:ext cx="4445000" cy="190500"/>
          </a:xfrm>
          <a:prstGeom prst="rect">
            <a:avLst/>
          </a:prstGeom>
          <a:noFill/>
          <a:ln/>
        </p:spPr>
        <p:txBody>
          <a:bodyPr wrap="square" lIns="0" tIns="0" rIns="0" bIns="0" rtlCol="0" anchor="t"/>
          <a:lstStyle/>
          <a:p>
            <a:pPr indent="0" marL="0">
              <a:buNone/>
            </a:pPr>
            <a:r>
              <a:rPr lang="en-US" sz="800" spc="160" kern="0" dirty="0">
                <a:solidFill>
                  <a:srgbClr val="7D6D5C"/>
                </a:solidFill>
                <a:latin typeface="Inter" pitchFamily="34" charset="0"/>
                <a:ea typeface="Inter" pitchFamily="34" charset="-122"/>
                <a:cs typeface="Inter" pitchFamily="34" charset="-120"/>
              </a:rPr>
              <a:t>THE ROLE OF NOSTALGIA</a:t>
            </a:r>
            <a:endParaRPr lang="en-US" sz="800" dirty="0"/>
          </a:p>
        </p:txBody>
      </p:sp>
      <p:sp>
        <p:nvSpPr>
          <p:cNvPr id="7" name="Text 4"/>
          <p:cNvSpPr txBox="1"/>
          <p:nvPr/>
        </p:nvSpPr>
        <p:spPr>
          <a:xfrm>
            <a:off x="5613400" y="7823200"/>
            <a:ext cx="635000" cy="190500"/>
          </a:xfrm>
          <a:prstGeom prst="rect">
            <a:avLst/>
          </a:prstGeom>
          <a:noFill/>
          <a:ln/>
        </p:spPr>
        <p:txBody>
          <a:bodyPr wrap="square" lIns="0" tIns="0" rIns="0" bIns="0" rtlCol="0" anchor="t"/>
          <a:lstStyle/>
          <a:p>
            <a:pPr algn="r" indent="0" marL="0">
              <a:buNone/>
            </a:pPr>
            <a:r>
              <a:rPr lang="en-US" sz="1000" dirty="0">
                <a:solidFill>
                  <a:srgbClr val="8A5E34"/>
                </a:solidFill>
                <a:latin typeface="Inter" pitchFamily="34" charset="0"/>
                <a:ea typeface="Inter" pitchFamily="34" charset="-122"/>
                <a:cs typeface="Inter" pitchFamily="34" charset="-120"/>
              </a:rPr>
              <a:t>→</a:t>
            </a:r>
            <a:endParaRPr lang="en-US" sz="1000" dirty="0"/>
          </a:p>
        </p:txBody>
      </p:sp>
      <p:sp>
        <p:nvSpPr>
          <p:cNvPr id="8" name="Text 5"/>
          <p:cNvSpPr txBox="1"/>
          <p:nvPr/>
        </p:nvSpPr>
        <p:spPr>
          <a:xfrm>
            <a:off x="609600" y="1435100"/>
            <a:ext cx="3810000" cy="177800"/>
          </a:xfrm>
          <a:prstGeom prst="rect">
            <a:avLst/>
          </a:prstGeom>
          <a:noFill/>
          <a:ln/>
        </p:spPr>
        <p:txBody>
          <a:bodyPr wrap="square" lIns="0" tIns="0" rIns="0" bIns="0" rtlCol="0" anchor="t"/>
          <a:lstStyle/>
          <a:p>
            <a:pPr indent="0" marL="0">
              <a:buNone/>
            </a:pPr>
            <a:r>
              <a:rPr lang="en-US" sz="850" b="1" spc="170" kern="0" dirty="0">
                <a:solidFill>
                  <a:srgbClr val="8A5E34"/>
                </a:solidFill>
                <a:latin typeface="Inter" pitchFamily="34" charset="0"/>
                <a:ea typeface="Inter" pitchFamily="34" charset="-122"/>
                <a:cs typeface="Inter" pitchFamily="34" charset="-120"/>
              </a:rPr>
              <a:t>III · NOSTALGIA</a:t>
            </a:r>
            <a:endParaRPr lang="en-US" sz="850" dirty="0"/>
          </a:p>
        </p:txBody>
      </p:sp>
      <p:sp>
        <p:nvSpPr>
          <p:cNvPr id="9" name="Shape 6"/>
          <p:cNvSpPr/>
          <p:nvPr/>
        </p:nvSpPr>
        <p:spPr>
          <a:xfrm>
            <a:off x="2076450" y="1504950"/>
            <a:ext cx="406400" cy="0"/>
          </a:xfrm>
          <a:prstGeom prst="line">
            <a:avLst/>
          </a:prstGeom>
          <a:noFill/>
          <a:ln w="9525">
            <a:solidFill>
              <a:srgbClr val="8A5E34"/>
            </a:solidFill>
            <a:prstDash val="solid"/>
          </a:ln>
        </p:spPr>
      </p:sp>
      <p:sp>
        <p:nvSpPr>
          <p:cNvPr id="10" name="Text 7"/>
          <p:cNvSpPr txBox="1"/>
          <p:nvPr/>
        </p:nvSpPr>
        <p:spPr>
          <a:xfrm>
            <a:off x="609600" y="1701800"/>
            <a:ext cx="5638800" cy="952500"/>
          </a:xfrm>
          <a:prstGeom prst="rect">
            <a:avLst/>
          </a:prstGeom>
          <a:noFill/>
          <a:ln/>
        </p:spPr>
        <p:txBody>
          <a:bodyPr wrap="square" lIns="0" tIns="0" rIns="0" bIns="0" rtlCol="0" anchor="t"/>
          <a:lstStyle/>
          <a:p>
            <a:pPr indent="0" marL="0">
              <a:lnSpc>
                <a:spcPts val="3456"/>
              </a:lnSpc>
              <a:buNone/>
            </a:pPr>
            <a:r>
              <a:rPr lang="en-US" sz="3200" dirty="0">
                <a:solidFill>
                  <a:srgbClr val="2E231A"/>
                </a:solidFill>
                <a:latin typeface="Playfair Display" pitchFamily="34" charset="0"/>
                <a:ea typeface="Playfair Display" pitchFamily="34" charset="-122"/>
                <a:cs typeface="Playfair Display" pitchFamily="34" charset="-120"/>
              </a:rPr>
              <a:t>Why Looking Back Can</a:t>
            </a:r>
            <a:endParaRPr lang="en-US" sz="3200" dirty="0"/>
          </a:p>
          <a:p>
            <a:pPr indent="0" marL="0">
              <a:lnSpc>
                <a:spcPts val="3456"/>
              </a:lnSpc>
              <a:buNone/>
            </a:pPr>
            <a:r>
              <a:rPr lang="en-US" sz="3200" dirty="0">
                <a:solidFill>
                  <a:srgbClr val="2E231A"/>
                </a:solidFill>
                <a:latin typeface="Playfair Display" pitchFamily="34" charset="0"/>
                <a:ea typeface="Playfair Display" pitchFamily="34" charset="-122"/>
                <a:cs typeface="Playfair Display" pitchFamily="34" charset="-120"/>
              </a:rPr>
              <a:t>Help Us </a:t>
            </a:r>
            <a:pPr indent="0" marL="0">
              <a:lnSpc>
                <a:spcPts val="3456"/>
              </a:lnSpc>
              <a:buNone/>
            </a:pPr>
            <a:r>
              <a:rPr lang="en-US" sz="3200" i="1" dirty="0">
                <a:solidFill>
                  <a:srgbClr val="8A5E34"/>
                </a:solidFill>
                <a:latin typeface="Playfair Display" pitchFamily="34" charset="0"/>
                <a:ea typeface="Playfair Display" pitchFamily="34" charset="-122"/>
                <a:cs typeface="Playfair Display" pitchFamily="34" charset="-120"/>
              </a:rPr>
              <a:t>Move Forward</a:t>
            </a:r>
            <a:endParaRPr lang="en-US" sz="3200" dirty="0"/>
          </a:p>
        </p:txBody>
      </p:sp>
      <p:sp>
        <p:nvSpPr>
          <p:cNvPr id="11" name="Text 8"/>
          <p:cNvSpPr txBox="1"/>
          <p:nvPr/>
        </p:nvSpPr>
        <p:spPr>
          <a:xfrm>
            <a:off x="609600" y="2857500"/>
            <a:ext cx="5638800" cy="4572000"/>
          </a:xfrm>
          <a:prstGeom prst="rect">
            <a:avLst/>
          </a:prstGeom>
          <a:noFill/>
          <a:ln/>
        </p:spPr>
        <p:txBody>
          <a:bodyPr wrap="square" lIns="0" tIns="0" rIns="0" bIns="0" rtlCol="0" anchor="t"/>
          <a:lstStyle/>
          <a:p>
            <a:pPr indent="0" marL="0">
              <a:lnSpc>
                <a:spcPts val="2250"/>
              </a:lnSpc>
              <a:spcAft>
                <a:spcPts val="1100"/>
              </a:spcAft>
              <a:buNone/>
            </a:pPr>
            <a:r>
              <a:rPr lang="en-US" sz="1500" dirty="0">
                <a:solidFill>
                  <a:srgbClr val="2E231A"/>
                </a:solidFill>
                <a:latin typeface="Newsreader" pitchFamily="34" charset="0"/>
                <a:ea typeface="Newsreader" pitchFamily="34" charset="-122"/>
                <a:cs typeface="Newsreader" pitchFamily="34" charset="-120"/>
              </a:rPr>
              <a:t>Research on nostalgia suggests that reflecting on meaningful memories is not simply an attempt to remain trapped in the past. Nostalgia can serve important psychological functions by strengthening self-continuity, reconnecting individuals with personal values, and encouraging motivation toward future goals </a:t>
            </a:r>
            <a:pPr indent="0" marL="0">
              <a:lnSpc>
                <a:spcPts val="2250"/>
              </a:lnSpc>
              <a:spcAft>
                <a:spcPts val="1100"/>
              </a:spcAft>
              <a:buNone/>
            </a:pPr>
            <a:r>
              <a:rPr lang="en-US" sz="1200" i="1" dirty="0">
                <a:solidFill>
                  <a:srgbClr val="7D6D5C"/>
                </a:solidFill>
                <a:latin typeface="Newsreader" pitchFamily="34" charset="0"/>
                <a:ea typeface="Newsreader" pitchFamily="34" charset="-122"/>
                <a:cs typeface="Newsreader" pitchFamily="34" charset="-120"/>
              </a:rPr>
              <a:t>(Routledge et al., 2011)</a:t>
            </a:r>
            <a:pPr indent="0" marL="0">
              <a:lnSpc>
                <a:spcPts val="2250"/>
              </a:lnSpc>
              <a:spcAft>
                <a:spcPts val="1100"/>
              </a:spcAft>
              <a:buNone/>
            </a:pPr>
            <a:r>
              <a:rPr lang="en-US" sz="1500" dirty="0">
                <a:solidFill>
                  <a:srgbClr val="2E231A"/>
                </a:solidFill>
                <a:latin typeface="Newsreader" pitchFamily="34" charset="0"/>
                <a:ea typeface="Newsreader" pitchFamily="34" charset="-122"/>
                <a:cs typeface="Newsreader" pitchFamily="34" charset="-120"/>
              </a:rPr>
              <a:t>.</a:t>
            </a:r>
            <a:endParaRPr lang="en-US" sz="1500" dirty="0"/>
          </a:p>
          <a:p>
            <a:pPr indent="0" marL="0">
              <a:lnSpc>
                <a:spcPts val="2250"/>
              </a:lnSpc>
              <a:spcAft>
                <a:spcPts val="1100"/>
              </a:spcAft>
              <a:buNone/>
            </a:pPr>
            <a:r>
              <a:rPr lang="en-US" sz="1500" dirty="0">
                <a:solidFill>
                  <a:srgbClr val="2E231A"/>
                </a:solidFill>
                <a:latin typeface="Newsreader" pitchFamily="34" charset="0"/>
                <a:ea typeface="Newsreader" pitchFamily="34" charset="-122"/>
                <a:cs typeface="Newsreader" pitchFamily="34" charset="-120"/>
              </a:rPr>
              <a:t>Rather than preventing growth, memories of meaningful experiences can remind individuals of qualities they still carry within themselves. Confidence, creativity, determination, and hope may not disappear completely; they may simply take different forms throughout life.</a:t>
            </a:r>
            <a:endParaRPr lang="en-US" sz="1500" dirty="0"/>
          </a:p>
          <a:p>
            <a:pPr indent="0" marL="0">
              <a:lnSpc>
                <a:spcPts val="2250"/>
              </a:lnSpc>
              <a:spcAft>
                <a:spcPts val="1100"/>
              </a:spcAft>
              <a:buNone/>
            </a:pPr>
            <a:r>
              <a:rPr lang="en-US" sz="1500" dirty="0">
                <a:solidFill>
                  <a:srgbClr val="2E231A"/>
                </a:solidFill>
                <a:latin typeface="Newsreader" pitchFamily="34" charset="0"/>
                <a:ea typeface="Newsreader" pitchFamily="34" charset="-122"/>
                <a:cs typeface="Newsreader" pitchFamily="34" charset="-120"/>
              </a:rPr>
              <a:t>Recent research further suggests that nostalgia can function as a source of motivation by helping people maintain a sense of connection between their past experiences and future aspirations </a:t>
            </a:r>
            <a:pPr indent="0" marL="0">
              <a:lnSpc>
                <a:spcPts val="2250"/>
              </a:lnSpc>
              <a:spcAft>
                <a:spcPts val="1100"/>
              </a:spcAft>
              <a:buNone/>
            </a:pPr>
            <a:r>
              <a:rPr lang="en-US" sz="1200" i="1" dirty="0">
                <a:solidFill>
                  <a:srgbClr val="7D6D5C"/>
                </a:solidFill>
                <a:latin typeface="Newsreader" pitchFamily="34" charset="0"/>
                <a:ea typeface="Newsreader" pitchFamily="34" charset="-122"/>
                <a:cs typeface="Newsreader" pitchFamily="34" charset="-120"/>
              </a:rPr>
              <a:t>(Sedikides &amp; Wildschut, 2022)</a:t>
            </a:r>
            <a:pPr indent="0" marL="0">
              <a:lnSpc>
                <a:spcPts val="2250"/>
              </a:lnSpc>
              <a:spcAft>
                <a:spcPts val="1100"/>
              </a:spcAft>
              <a:buNone/>
            </a:pPr>
            <a:r>
              <a:rPr lang="en-US" sz="1500" dirty="0">
                <a:solidFill>
                  <a:srgbClr val="2E231A"/>
                </a:solidFill>
                <a:latin typeface="Newsreader" pitchFamily="34" charset="0"/>
                <a:ea typeface="Newsreader" pitchFamily="34" charset="-122"/>
                <a:cs typeface="Newsreader" pitchFamily="34" charset="-120"/>
              </a:rPr>
              <a: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8"/>
        </a:solidFill>
      </p:bgPr>
    </p:bg>
    <p:spTree>
      <p:nvGrpSpPr>
        <p:cNvPr id="1" name=""/>
        <p:cNvGrpSpPr/>
        <p:nvPr/>
      </p:nvGrpSpPr>
      <p:grpSpPr>
        <a:xfrm>
          <a:off x="0" y="0"/>
          <a:ext cx="0" cy="0"/>
          <a:chOff x="0" y="0"/>
          <a:chExt cx="0" cy="0"/>
        </a:xfrm>
      </p:grpSpPr>
      <p:pic>
        <p:nvPicPr>
          <p:cNvPr id="2" name="Image 0" descr="The Wellness">    </p:cNvPr>
          <p:cNvPicPr>
            <a:picLocks noChangeAspect="1"/>
          </p:cNvPicPr>
          <p:nvPr/>
        </p:nvPicPr>
        <p:blipFill>
          <a:blip r:embed="rId1"/>
          <a:stretch>
            <a:fillRect/>
          </a:stretch>
        </p:blipFill>
        <p:spPr>
          <a:xfrm>
            <a:off x="609600" y="615950"/>
            <a:ext cx="1489529" cy="215900"/>
          </a:xfrm>
          <a:prstGeom prst="rect">
            <a:avLst/>
          </a:prstGeom>
        </p:spPr>
      </p:pic>
      <p:sp>
        <p:nvSpPr>
          <p:cNvPr id="3" name="Text 0"/>
          <p:cNvSpPr txBox="1"/>
          <p:nvPr/>
        </p:nvSpPr>
        <p:spPr>
          <a:xfrm>
            <a:off x="1905000" y="628650"/>
            <a:ext cx="3048000" cy="190500"/>
          </a:xfrm>
          <a:prstGeom prst="rect">
            <a:avLst/>
          </a:prstGeom>
          <a:noFill/>
          <a:ln/>
        </p:spPr>
        <p:txBody>
          <a:bodyPr wrap="square" lIns="0" tIns="0" rIns="0" bIns="0" rtlCol="0" anchor="t"/>
          <a:lstStyle/>
          <a:p>
            <a:pPr algn="ctr" indent="0" marL="0">
              <a:buNone/>
            </a:pPr>
            <a:r>
              <a:rPr lang="en-US" sz="850" spc="170" kern="0" dirty="0">
                <a:solidFill>
                  <a:srgbClr val="7D6D5C"/>
                </a:solidFill>
                <a:latin typeface="Inter" pitchFamily="34" charset="0"/>
                <a:ea typeface="Inter" pitchFamily="34" charset="-122"/>
                <a:cs typeface="Inter" pitchFamily="34" charset="-120"/>
              </a:rPr>
              <a:t>REBUILDING THE SPARK</a:t>
            </a:r>
            <a:endParaRPr lang="en-US" sz="850" dirty="0"/>
          </a:p>
        </p:txBody>
      </p:sp>
      <p:sp>
        <p:nvSpPr>
          <p:cNvPr id="4" name="Text 1"/>
          <p:cNvSpPr txBox="1"/>
          <p:nvPr/>
        </p:nvSpPr>
        <p:spPr>
          <a:xfrm>
            <a:off x="4978400" y="628650"/>
            <a:ext cx="1270000" cy="190500"/>
          </a:xfrm>
          <a:prstGeom prst="rect">
            <a:avLst/>
          </a:prstGeom>
          <a:noFill/>
          <a:ln/>
        </p:spPr>
        <p:txBody>
          <a:bodyPr wrap="square" lIns="0" tIns="0" rIns="0" bIns="0" rtlCol="0" anchor="t"/>
          <a:lstStyle/>
          <a:p>
            <a:pPr algn="r" indent="0" marL="0">
              <a:buNone/>
            </a:pPr>
            <a:r>
              <a:rPr lang="en-US" sz="850" spc="170" kern="0" dirty="0">
                <a:solidFill>
                  <a:srgbClr val="7D6D5C"/>
                </a:solidFill>
                <a:latin typeface="Inter" pitchFamily="34" charset="0"/>
                <a:ea typeface="Inter" pitchFamily="34" charset="-122"/>
                <a:cs typeface="Inter" pitchFamily="34" charset="-120"/>
              </a:rPr>
              <a:t>07 / 10</a:t>
            </a:r>
            <a:endParaRPr lang="en-US" sz="850" dirty="0"/>
          </a:p>
        </p:txBody>
      </p:sp>
      <p:sp>
        <p:nvSpPr>
          <p:cNvPr id="5" name="Shape 2"/>
          <p:cNvSpPr/>
          <p:nvPr/>
        </p:nvSpPr>
        <p:spPr>
          <a:xfrm>
            <a:off x="609600" y="1028700"/>
            <a:ext cx="5638800" cy="0"/>
          </a:xfrm>
          <a:prstGeom prst="line">
            <a:avLst/>
          </a:prstGeom>
          <a:noFill/>
          <a:ln w="9525">
            <a:solidFill>
              <a:srgbClr val="D9CCBA"/>
            </a:solidFill>
            <a:prstDash val="solid"/>
          </a:ln>
        </p:spPr>
      </p:sp>
      <p:sp>
        <p:nvSpPr>
          <p:cNvPr id="6" name="Text 3"/>
          <p:cNvSpPr txBox="1"/>
          <p:nvPr/>
        </p:nvSpPr>
        <p:spPr>
          <a:xfrm>
            <a:off x="609600" y="7848600"/>
            <a:ext cx="4445000" cy="190500"/>
          </a:xfrm>
          <a:prstGeom prst="rect">
            <a:avLst/>
          </a:prstGeom>
          <a:noFill/>
          <a:ln/>
        </p:spPr>
        <p:txBody>
          <a:bodyPr wrap="square" lIns="0" tIns="0" rIns="0" bIns="0" rtlCol="0" anchor="t"/>
          <a:lstStyle/>
          <a:p>
            <a:pPr indent="0" marL="0">
              <a:buNone/>
            </a:pPr>
            <a:r>
              <a:rPr lang="en-US" sz="800" spc="160" kern="0" dirty="0">
                <a:solidFill>
                  <a:srgbClr val="7D6D5C"/>
                </a:solidFill>
                <a:latin typeface="Inter" pitchFamily="34" charset="0"/>
                <a:ea typeface="Inter" pitchFamily="34" charset="-122"/>
                <a:cs typeface="Inter" pitchFamily="34" charset="-120"/>
              </a:rPr>
              <a:t>CHANGE &amp; THE BRAIN</a:t>
            </a:r>
            <a:endParaRPr lang="en-US" sz="800" dirty="0"/>
          </a:p>
        </p:txBody>
      </p:sp>
      <p:sp>
        <p:nvSpPr>
          <p:cNvPr id="7" name="Text 4"/>
          <p:cNvSpPr txBox="1"/>
          <p:nvPr/>
        </p:nvSpPr>
        <p:spPr>
          <a:xfrm>
            <a:off x="5613400" y="7823200"/>
            <a:ext cx="635000" cy="190500"/>
          </a:xfrm>
          <a:prstGeom prst="rect">
            <a:avLst/>
          </a:prstGeom>
          <a:noFill/>
          <a:ln/>
        </p:spPr>
        <p:txBody>
          <a:bodyPr wrap="square" lIns="0" tIns="0" rIns="0" bIns="0" rtlCol="0" anchor="t"/>
          <a:lstStyle/>
          <a:p>
            <a:pPr algn="r" indent="0" marL="0">
              <a:buNone/>
            </a:pPr>
            <a:r>
              <a:rPr lang="en-US" sz="1000" dirty="0">
                <a:solidFill>
                  <a:srgbClr val="8A5E34"/>
                </a:solidFill>
                <a:latin typeface="Inter" pitchFamily="34" charset="0"/>
                <a:ea typeface="Inter" pitchFamily="34" charset="-122"/>
                <a:cs typeface="Inter" pitchFamily="34" charset="-120"/>
              </a:rPr>
              <a:t>→</a:t>
            </a:r>
            <a:endParaRPr lang="en-US" sz="1000" dirty="0"/>
          </a:p>
        </p:txBody>
      </p:sp>
      <p:sp>
        <p:nvSpPr>
          <p:cNvPr id="8" name="Text 5"/>
          <p:cNvSpPr txBox="1"/>
          <p:nvPr/>
        </p:nvSpPr>
        <p:spPr>
          <a:xfrm>
            <a:off x="609600" y="1397000"/>
            <a:ext cx="3810000" cy="177800"/>
          </a:xfrm>
          <a:prstGeom prst="rect">
            <a:avLst/>
          </a:prstGeom>
          <a:noFill/>
          <a:ln/>
        </p:spPr>
        <p:txBody>
          <a:bodyPr wrap="square" lIns="0" tIns="0" rIns="0" bIns="0" rtlCol="0" anchor="t"/>
          <a:lstStyle/>
          <a:p>
            <a:pPr indent="0" marL="0">
              <a:buNone/>
            </a:pPr>
            <a:r>
              <a:rPr lang="en-US" sz="850" b="1" spc="170" kern="0" dirty="0">
                <a:solidFill>
                  <a:srgbClr val="8A5E34"/>
                </a:solidFill>
                <a:latin typeface="Inter" pitchFamily="34" charset="0"/>
                <a:ea typeface="Inter" pitchFamily="34" charset="-122"/>
                <a:cs typeface="Inter" pitchFamily="34" charset="-120"/>
              </a:rPr>
              <a:t>IV · GROWTH</a:t>
            </a:r>
            <a:endParaRPr lang="en-US" sz="850" dirty="0"/>
          </a:p>
        </p:txBody>
      </p:sp>
      <p:sp>
        <p:nvSpPr>
          <p:cNvPr id="9" name="Shape 6"/>
          <p:cNvSpPr/>
          <p:nvPr/>
        </p:nvSpPr>
        <p:spPr>
          <a:xfrm>
            <a:off x="1715770" y="1466850"/>
            <a:ext cx="406400" cy="0"/>
          </a:xfrm>
          <a:prstGeom prst="line">
            <a:avLst/>
          </a:prstGeom>
          <a:noFill/>
          <a:ln w="9525">
            <a:solidFill>
              <a:srgbClr val="8A5E34"/>
            </a:solidFill>
            <a:prstDash val="solid"/>
          </a:ln>
        </p:spPr>
      </p:sp>
      <p:sp>
        <p:nvSpPr>
          <p:cNvPr id="10" name="Text 7"/>
          <p:cNvSpPr txBox="1"/>
          <p:nvPr/>
        </p:nvSpPr>
        <p:spPr>
          <a:xfrm>
            <a:off x="609600" y="1663700"/>
            <a:ext cx="5638800" cy="825500"/>
          </a:xfrm>
          <a:prstGeom prst="rect">
            <a:avLst/>
          </a:prstGeom>
          <a:noFill/>
          <a:ln/>
        </p:spPr>
        <p:txBody>
          <a:bodyPr wrap="square" lIns="0" tIns="0" rIns="0" bIns="0" rtlCol="0" anchor="t"/>
          <a:lstStyle/>
          <a:p>
            <a:pPr indent="0" marL="0">
              <a:lnSpc>
                <a:spcPts val="3024"/>
              </a:lnSpc>
              <a:buNone/>
            </a:pPr>
            <a:r>
              <a:rPr lang="en-US" sz="2800" dirty="0">
                <a:solidFill>
                  <a:srgbClr val="2E231A"/>
                </a:solidFill>
                <a:latin typeface="Playfair Display" pitchFamily="34" charset="0"/>
                <a:ea typeface="Playfair Display" pitchFamily="34" charset="-122"/>
                <a:cs typeface="Playfair Display" pitchFamily="34" charset="-120"/>
              </a:rPr>
              <a:t>Growth Does Not Mean</a:t>
            </a:r>
            <a:endParaRPr lang="en-US" sz="2800" dirty="0"/>
          </a:p>
          <a:p>
            <a:pPr indent="0" marL="0">
              <a:lnSpc>
                <a:spcPts val="3024"/>
              </a:lnSpc>
              <a:buNone/>
            </a:pPr>
            <a:r>
              <a:rPr lang="en-US" sz="2800" dirty="0">
                <a:solidFill>
                  <a:srgbClr val="2E231A"/>
                </a:solidFill>
                <a:latin typeface="Playfair Display" pitchFamily="34" charset="0"/>
                <a:ea typeface="Playfair Display" pitchFamily="34" charset="-122"/>
                <a:cs typeface="Playfair Display" pitchFamily="34" charset="-120"/>
              </a:rPr>
              <a:t>Becoming </a:t>
            </a:r>
            <a:pPr indent="0" marL="0">
              <a:lnSpc>
                <a:spcPts val="3024"/>
              </a:lnSpc>
              <a:buNone/>
            </a:pPr>
            <a:r>
              <a:rPr lang="en-US" sz="2800" i="1" dirty="0">
                <a:solidFill>
                  <a:srgbClr val="8A5E34"/>
                </a:solidFill>
                <a:latin typeface="Playfair Display" pitchFamily="34" charset="0"/>
                <a:ea typeface="Playfair Display" pitchFamily="34" charset="-122"/>
                <a:cs typeface="Playfair Display" pitchFamily="34" charset="-120"/>
              </a:rPr>
              <a:t>Who We Were</a:t>
            </a:r>
            <a:endParaRPr lang="en-US" sz="2800" dirty="0"/>
          </a:p>
        </p:txBody>
      </p:sp>
      <p:sp>
        <p:nvSpPr>
          <p:cNvPr id="11" name="Text 8"/>
          <p:cNvSpPr txBox="1"/>
          <p:nvPr/>
        </p:nvSpPr>
        <p:spPr>
          <a:xfrm>
            <a:off x="609600" y="2616200"/>
            <a:ext cx="5638800" cy="1841500"/>
          </a:xfrm>
          <a:prstGeom prst="rect">
            <a:avLst/>
          </a:prstGeom>
          <a:noFill/>
          <a:ln/>
        </p:spPr>
        <p:txBody>
          <a:bodyPr wrap="square" lIns="0" tIns="0" rIns="0" bIns="0" rtlCol="0" anchor="t"/>
          <a:lstStyle/>
          <a:p>
            <a:pPr indent="0" marL="0">
              <a:lnSpc>
                <a:spcPts val="2250"/>
              </a:lnSpc>
              <a:buNone/>
            </a:pPr>
            <a:r>
              <a:rPr lang="en-US" sz="1500" dirty="0">
                <a:solidFill>
                  <a:srgbClr val="2E231A"/>
                </a:solidFill>
                <a:latin typeface="Newsreader" pitchFamily="34" charset="0"/>
                <a:ea typeface="Newsreader" pitchFamily="34" charset="-122"/>
                <a:cs typeface="Newsreader" pitchFamily="34" charset="-120"/>
              </a:rPr>
              <a:t>Although it is natural to wish for the return of a previous version of oneself, personal growth does not come from recreating the past. Growth occurs when individuals allow themselves to change. The goal is not to become the exact person they were before challenges altered their path. Instead, growth involves integrating past experiences while creating space for a new identity to develop.</a:t>
            </a:r>
            <a:endParaRPr lang="en-US" sz="1500" dirty="0"/>
          </a:p>
        </p:txBody>
      </p:sp>
      <p:sp>
        <p:nvSpPr>
          <p:cNvPr id="12" name="Shape 9"/>
          <p:cNvSpPr/>
          <p:nvPr/>
        </p:nvSpPr>
        <p:spPr>
          <a:xfrm>
            <a:off x="609600" y="4603750"/>
            <a:ext cx="5638800" cy="0"/>
          </a:xfrm>
          <a:prstGeom prst="line">
            <a:avLst/>
          </a:prstGeom>
          <a:noFill/>
          <a:ln w="9525">
            <a:solidFill>
              <a:srgbClr val="D9CCBA"/>
            </a:solidFill>
            <a:prstDash val="solid"/>
          </a:ln>
        </p:spPr>
      </p:sp>
      <p:sp>
        <p:nvSpPr>
          <p:cNvPr id="13" name="Text 10"/>
          <p:cNvSpPr txBox="1"/>
          <p:nvPr/>
        </p:nvSpPr>
        <p:spPr>
          <a:xfrm>
            <a:off x="609600" y="4902200"/>
            <a:ext cx="3810000" cy="177800"/>
          </a:xfrm>
          <a:prstGeom prst="rect">
            <a:avLst/>
          </a:prstGeom>
          <a:noFill/>
          <a:ln/>
        </p:spPr>
        <p:txBody>
          <a:bodyPr wrap="square" lIns="0" tIns="0" rIns="0" bIns="0" rtlCol="0" anchor="t"/>
          <a:lstStyle/>
          <a:p>
            <a:pPr indent="0" marL="0">
              <a:buNone/>
            </a:pPr>
            <a:r>
              <a:rPr lang="en-US" sz="850" b="1" spc="170" kern="0" dirty="0">
                <a:solidFill>
                  <a:srgbClr val="8A5E34"/>
                </a:solidFill>
                <a:latin typeface="Inter" pitchFamily="34" charset="0"/>
                <a:ea typeface="Inter" pitchFamily="34" charset="-122"/>
                <a:cs typeface="Inter" pitchFamily="34" charset="-120"/>
              </a:rPr>
              <a:t>V · NEUROPLASTICITY</a:t>
            </a:r>
            <a:endParaRPr lang="en-US" sz="850" dirty="0"/>
          </a:p>
        </p:txBody>
      </p:sp>
      <p:sp>
        <p:nvSpPr>
          <p:cNvPr id="14" name="Shape 11"/>
          <p:cNvSpPr/>
          <p:nvPr/>
        </p:nvSpPr>
        <p:spPr>
          <a:xfrm>
            <a:off x="2437130" y="4972050"/>
            <a:ext cx="406400" cy="0"/>
          </a:xfrm>
          <a:prstGeom prst="line">
            <a:avLst/>
          </a:prstGeom>
          <a:noFill/>
          <a:ln w="9525">
            <a:solidFill>
              <a:srgbClr val="8A5E34"/>
            </a:solidFill>
            <a:prstDash val="solid"/>
          </a:ln>
        </p:spPr>
      </p:sp>
      <p:sp>
        <p:nvSpPr>
          <p:cNvPr id="15" name="Text 12"/>
          <p:cNvSpPr txBox="1"/>
          <p:nvPr/>
        </p:nvSpPr>
        <p:spPr>
          <a:xfrm>
            <a:off x="609600" y="5168900"/>
            <a:ext cx="5638800" cy="825500"/>
          </a:xfrm>
          <a:prstGeom prst="rect">
            <a:avLst/>
          </a:prstGeom>
          <a:noFill/>
          <a:ln/>
        </p:spPr>
        <p:txBody>
          <a:bodyPr wrap="square" lIns="0" tIns="0" rIns="0" bIns="0" rtlCol="0" anchor="t"/>
          <a:lstStyle/>
          <a:p>
            <a:pPr indent="0" marL="0">
              <a:lnSpc>
                <a:spcPts val="3024"/>
              </a:lnSpc>
              <a:buNone/>
            </a:pPr>
            <a:r>
              <a:rPr lang="en-US" sz="2800" dirty="0">
                <a:solidFill>
                  <a:srgbClr val="2E231A"/>
                </a:solidFill>
                <a:latin typeface="Playfair Display" pitchFamily="34" charset="0"/>
                <a:ea typeface="Playfair Display" pitchFamily="34" charset="-122"/>
                <a:cs typeface="Playfair Display" pitchFamily="34" charset="-120"/>
              </a:rPr>
              <a:t>The Brain’s Ability to</a:t>
            </a:r>
            <a:endParaRPr lang="en-US" sz="2800" dirty="0"/>
          </a:p>
          <a:p>
            <a:pPr indent="0" marL="0">
              <a:lnSpc>
                <a:spcPts val="3024"/>
              </a:lnSpc>
              <a:buNone/>
            </a:pPr>
            <a:r>
              <a:rPr lang="en-US" sz="2800" dirty="0">
                <a:solidFill>
                  <a:srgbClr val="2E231A"/>
                </a:solidFill>
                <a:latin typeface="Playfair Display" pitchFamily="34" charset="0"/>
                <a:ea typeface="Playfair Display" pitchFamily="34" charset="-122"/>
                <a:cs typeface="Playfair Display" pitchFamily="34" charset="-120"/>
              </a:rPr>
              <a:t>Adapt and </a:t>
            </a:r>
            <a:pPr indent="0" marL="0">
              <a:lnSpc>
                <a:spcPts val="3024"/>
              </a:lnSpc>
              <a:buNone/>
            </a:pPr>
            <a:r>
              <a:rPr lang="en-US" sz="2800" i="1" dirty="0">
                <a:solidFill>
                  <a:srgbClr val="8A5E34"/>
                </a:solidFill>
                <a:latin typeface="Playfair Display" pitchFamily="34" charset="0"/>
                <a:ea typeface="Playfair Display" pitchFamily="34" charset="-122"/>
                <a:cs typeface="Playfair Display" pitchFamily="34" charset="-120"/>
              </a:rPr>
              <a:t>Begin Again</a:t>
            </a:r>
            <a:endParaRPr lang="en-US" sz="2800" dirty="0"/>
          </a:p>
        </p:txBody>
      </p:sp>
      <p:sp>
        <p:nvSpPr>
          <p:cNvPr id="16" name="Text 13"/>
          <p:cNvSpPr txBox="1"/>
          <p:nvPr/>
        </p:nvSpPr>
        <p:spPr>
          <a:xfrm>
            <a:off x="609600" y="6108700"/>
            <a:ext cx="5638800" cy="1524000"/>
          </a:xfrm>
          <a:prstGeom prst="rect">
            <a:avLst/>
          </a:prstGeom>
          <a:noFill/>
          <a:ln/>
        </p:spPr>
        <p:txBody>
          <a:bodyPr wrap="square" lIns="0" tIns="0" rIns="0" bIns="0" rtlCol="0" anchor="t"/>
          <a:lstStyle/>
          <a:p>
            <a:pPr indent="0" marL="0">
              <a:lnSpc>
                <a:spcPts val="2250"/>
              </a:lnSpc>
              <a:buNone/>
            </a:pPr>
            <a:r>
              <a:rPr lang="en-US" sz="1500" dirty="0">
                <a:solidFill>
                  <a:srgbClr val="2E231A"/>
                </a:solidFill>
                <a:latin typeface="Newsreader" pitchFamily="34" charset="0"/>
                <a:ea typeface="Newsreader" pitchFamily="34" charset="-122"/>
                <a:cs typeface="Newsreader" pitchFamily="34" charset="-120"/>
              </a:rPr>
              <a:t>The human brain’s ability to adapt through neuroplasticity demonstrates that people are not permanently defined by past experiences. Neuroplasticity refers to the brain’s capacity to reorganize itself in response to learning, experiences, and environmental changes.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8"/>
        </a:solidFill>
      </p:bgPr>
    </p:bg>
    <p:spTree>
      <p:nvGrpSpPr>
        <p:cNvPr id="1" name=""/>
        <p:cNvGrpSpPr/>
        <p:nvPr/>
      </p:nvGrpSpPr>
      <p:grpSpPr>
        <a:xfrm>
          <a:off x="0" y="0"/>
          <a:ext cx="0" cy="0"/>
          <a:chOff x="0" y="0"/>
          <a:chExt cx="0" cy="0"/>
        </a:xfrm>
      </p:grpSpPr>
      <p:pic>
        <p:nvPicPr>
          <p:cNvPr id="2" name="Image 0" descr="The Wellness">    </p:cNvPr>
          <p:cNvPicPr>
            <a:picLocks noChangeAspect="1"/>
          </p:cNvPicPr>
          <p:nvPr/>
        </p:nvPicPr>
        <p:blipFill>
          <a:blip r:embed="rId1"/>
          <a:stretch>
            <a:fillRect/>
          </a:stretch>
        </p:blipFill>
        <p:spPr>
          <a:xfrm>
            <a:off x="609600" y="615950"/>
            <a:ext cx="1489529" cy="215900"/>
          </a:xfrm>
          <a:prstGeom prst="rect">
            <a:avLst/>
          </a:prstGeom>
        </p:spPr>
      </p:pic>
      <p:sp>
        <p:nvSpPr>
          <p:cNvPr id="3" name="Text 0"/>
          <p:cNvSpPr txBox="1"/>
          <p:nvPr/>
        </p:nvSpPr>
        <p:spPr>
          <a:xfrm>
            <a:off x="1905000" y="628650"/>
            <a:ext cx="3048000" cy="190500"/>
          </a:xfrm>
          <a:prstGeom prst="rect">
            <a:avLst/>
          </a:prstGeom>
          <a:noFill/>
          <a:ln/>
        </p:spPr>
        <p:txBody>
          <a:bodyPr wrap="square" lIns="0" tIns="0" rIns="0" bIns="0" rtlCol="0" anchor="t"/>
          <a:lstStyle/>
          <a:p>
            <a:pPr algn="ctr" indent="0" marL="0">
              <a:buNone/>
            </a:pPr>
            <a:r>
              <a:rPr lang="en-US" sz="850" spc="170" kern="0" dirty="0">
                <a:solidFill>
                  <a:srgbClr val="7D6D5C"/>
                </a:solidFill>
                <a:latin typeface="Inter" pitchFamily="34" charset="0"/>
                <a:ea typeface="Inter" pitchFamily="34" charset="-122"/>
                <a:cs typeface="Inter" pitchFamily="34" charset="-120"/>
              </a:rPr>
              <a:t>REBUILDING THE SPARK</a:t>
            </a:r>
            <a:endParaRPr lang="en-US" sz="850" dirty="0"/>
          </a:p>
        </p:txBody>
      </p:sp>
      <p:sp>
        <p:nvSpPr>
          <p:cNvPr id="4" name="Text 1"/>
          <p:cNvSpPr txBox="1"/>
          <p:nvPr/>
        </p:nvSpPr>
        <p:spPr>
          <a:xfrm>
            <a:off x="4978400" y="628650"/>
            <a:ext cx="1270000" cy="190500"/>
          </a:xfrm>
          <a:prstGeom prst="rect">
            <a:avLst/>
          </a:prstGeom>
          <a:noFill/>
          <a:ln/>
        </p:spPr>
        <p:txBody>
          <a:bodyPr wrap="square" lIns="0" tIns="0" rIns="0" bIns="0" rtlCol="0" anchor="t"/>
          <a:lstStyle/>
          <a:p>
            <a:pPr algn="r" indent="0" marL="0">
              <a:buNone/>
            </a:pPr>
            <a:r>
              <a:rPr lang="en-US" sz="850" spc="170" kern="0" dirty="0">
                <a:solidFill>
                  <a:srgbClr val="7D6D5C"/>
                </a:solidFill>
                <a:latin typeface="Inter" pitchFamily="34" charset="0"/>
                <a:ea typeface="Inter" pitchFamily="34" charset="-122"/>
                <a:cs typeface="Inter" pitchFamily="34" charset="-120"/>
              </a:rPr>
              <a:t>08 / 10</a:t>
            </a:r>
            <a:endParaRPr lang="en-US" sz="850" dirty="0"/>
          </a:p>
        </p:txBody>
      </p:sp>
      <p:sp>
        <p:nvSpPr>
          <p:cNvPr id="5" name="Shape 2"/>
          <p:cNvSpPr/>
          <p:nvPr/>
        </p:nvSpPr>
        <p:spPr>
          <a:xfrm>
            <a:off x="609600" y="1028700"/>
            <a:ext cx="5638800" cy="0"/>
          </a:xfrm>
          <a:prstGeom prst="line">
            <a:avLst/>
          </a:prstGeom>
          <a:noFill/>
          <a:ln w="9525">
            <a:solidFill>
              <a:srgbClr val="D9CCBA"/>
            </a:solidFill>
            <a:prstDash val="solid"/>
          </a:ln>
        </p:spPr>
      </p:sp>
      <p:sp>
        <p:nvSpPr>
          <p:cNvPr id="6" name="Text 3"/>
          <p:cNvSpPr txBox="1"/>
          <p:nvPr/>
        </p:nvSpPr>
        <p:spPr>
          <a:xfrm>
            <a:off x="609600" y="7848600"/>
            <a:ext cx="4445000" cy="190500"/>
          </a:xfrm>
          <a:prstGeom prst="rect">
            <a:avLst/>
          </a:prstGeom>
          <a:noFill/>
          <a:ln/>
        </p:spPr>
        <p:txBody>
          <a:bodyPr wrap="square" lIns="0" tIns="0" rIns="0" bIns="0" rtlCol="0" anchor="t"/>
          <a:lstStyle/>
          <a:p>
            <a:pPr indent="0" marL="0">
              <a:buNone/>
            </a:pPr>
            <a:r>
              <a:rPr lang="en-US" sz="800" spc="160" kern="0" dirty="0">
                <a:solidFill>
                  <a:srgbClr val="7D6D5C"/>
                </a:solidFill>
                <a:latin typeface="Inter" pitchFamily="34" charset="0"/>
                <a:ea typeface="Inter" pitchFamily="34" charset="-122"/>
                <a:cs typeface="Inter" pitchFamily="34" charset="-120"/>
              </a:rPr>
              <a:t>CREATING A NEW SPARK</a:t>
            </a:r>
            <a:endParaRPr lang="en-US" sz="800" dirty="0"/>
          </a:p>
        </p:txBody>
      </p:sp>
      <p:sp>
        <p:nvSpPr>
          <p:cNvPr id="7" name="Text 4"/>
          <p:cNvSpPr txBox="1"/>
          <p:nvPr/>
        </p:nvSpPr>
        <p:spPr>
          <a:xfrm>
            <a:off x="5613400" y="7823200"/>
            <a:ext cx="635000" cy="190500"/>
          </a:xfrm>
          <a:prstGeom prst="rect">
            <a:avLst/>
          </a:prstGeom>
          <a:noFill/>
          <a:ln/>
        </p:spPr>
        <p:txBody>
          <a:bodyPr wrap="square" lIns="0" tIns="0" rIns="0" bIns="0" rtlCol="0" anchor="t"/>
          <a:lstStyle/>
          <a:p>
            <a:pPr algn="r" indent="0" marL="0">
              <a:buNone/>
            </a:pPr>
            <a:r>
              <a:rPr lang="en-US" sz="1000" dirty="0">
                <a:solidFill>
                  <a:srgbClr val="8A5E34"/>
                </a:solidFill>
                <a:latin typeface="Inter" pitchFamily="34" charset="0"/>
                <a:ea typeface="Inter" pitchFamily="34" charset="-122"/>
                <a:cs typeface="Inter" pitchFamily="34" charset="-120"/>
              </a:rPr>
              <a:t>→</a:t>
            </a:r>
            <a:endParaRPr lang="en-US" sz="1000" dirty="0"/>
          </a:p>
        </p:txBody>
      </p:sp>
      <p:sp>
        <p:nvSpPr>
          <p:cNvPr id="8" name="Text 5"/>
          <p:cNvSpPr txBox="1"/>
          <p:nvPr/>
        </p:nvSpPr>
        <p:spPr>
          <a:xfrm>
            <a:off x="609600" y="1384300"/>
            <a:ext cx="5638800" cy="2095500"/>
          </a:xfrm>
          <a:prstGeom prst="rect">
            <a:avLst/>
          </a:prstGeom>
          <a:noFill/>
          <a:ln/>
        </p:spPr>
        <p:txBody>
          <a:bodyPr wrap="square" lIns="0" tIns="0" rIns="0" bIns="0" rtlCol="0" anchor="t"/>
          <a:lstStyle/>
          <a:p>
            <a:pPr indent="0" marL="0">
              <a:lnSpc>
                <a:spcPts val="2250"/>
              </a:lnSpc>
              <a:buNone/>
            </a:pPr>
            <a:r>
              <a:rPr lang="en-US" sz="1500" dirty="0">
                <a:solidFill>
                  <a:srgbClr val="2E231A"/>
                </a:solidFill>
                <a:latin typeface="Newsreader" pitchFamily="34" charset="0"/>
                <a:ea typeface="Newsreader" pitchFamily="34" charset="-122"/>
                <a:cs typeface="Newsreader" pitchFamily="34" charset="-120"/>
              </a:rPr>
              <a:t>Challenges, failures, and significant life events can influence neural pathways, shaping how individuals think, respond, and understand themselves over time </a:t>
            </a:r>
            <a:pPr indent="0" marL="0">
              <a:lnSpc>
                <a:spcPts val="2250"/>
              </a:lnSpc>
              <a:buNone/>
            </a:pPr>
            <a:r>
              <a:rPr lang="en-US" sz="1200" i="1" dirty="0">
                <a:solidFill>
                  <a:srgbClr val="7D6D5C"/>
                </a:solidFill>
                <a:latin typeface="Newsreader" pitchFamily="34" charset="0"/>
                <a:ea typeface="Newsreader" pitchFamily="34" charset="-122"/>
                <a:cs typeface="Newsreader" pitchFamily="34" charset="-120"/>
              </a:rPr>
              <a:t>(Kolb &amp; Gibb, 2011)</a:t>
            </a:r>
            <a:pPr indent="0" marL="0">
              <a:lnSpc>
                <a:spcPts val="2250"/>
              </a:lnSpc>
              <a:buNone/>
            </a:pPr>
            <a:r>
              <a:rPr lang="en-US" sz="1500" dirty="0">
                <a:solidFill>
                  <a:srgbClr val="2E231A"/>
                </a:solidFill>
                <a:latin typeface="Newsreader" pitchFamily="34" charset="0"/>
                <a:ea typeface="Newsreader" pitchFamily="34" charset="-122"/>
                <a:cs typeface="Newsreader" pitchFamily="34" charset="-120"/>
              </a:rPr>
              <a:t>. Periods of uncertainty, therefore, do not always indicate that someone is moving in the wrong direction. Sometimes, losing a familiar sense of identity becomes part of discovering a deeper understanding of oneself beyond previous expectations.</a:t>
            </a:r>
            <a:endParaRPr lang="en-US" sz="1500" dirty="0"/>
          </a:p>
        </p:txBody>
      </p:sp>
      <p:sp>
        <p:nvSpPr>
          <p:cNvPr id="9" name="Text 6"/>
          <p:cNvSpPr txBox="1"/>
          <p:nvPr/>
        </p:nvSpPr>
        <p:spPr>
          <a:xfrm>
            <a:off x="609600" y="3683000"/>
            <a:ext cx="3810000" cy="177800"/>
          </a:xfrm>
          <a:prstGeom prst="rect">
            <a:avLst/>
          </a:prstGeom>
          <a:noFill/>
          <a:ln/>
        </p:spPr>
        <p:txBody>
          <a:bodyPr wrap="square" lIns="0" tIns="0" rIns="0" bIns="0" rtlCol="0" anchor="t"/>
          <a:lstStyle/>
          <a:p>
            <a:pPr indent="0" marL="0">
              <a:buNone/>
            </a:pPr>
            <a:r>
              <a:rPr lang="en-US" sz="850" b="1" spc="170" kern="0" dirty="0">
                <a:solidFill>
                  <a:srgbClr val="8A5E34"/>
                </a:solidFill>
                <a:latin typeface="Inter" pitchFamily="34" charset="0"/>
                <a:ea typeface="Inter" pitchFamily="34" charset="-122"/>
                <a:cs typeface="Inter" pitchFamily="34" charset="-120"/>
              </a:rPr>
              <a:t>VI · RENEWAL</a:t>
            </a:r>
            <a:endParaRPr lang="en-US" sz="850" dirty="0"/>
          </a:p>
        </p:txBody>
      </p:sp>
      <p:sp>
        <p:nvSpPr>
          <p:cNvPr id="10" name="Shape 7"/>
          <p:cNvSpPr/>
          <p:nvPr/>
        </p:nvSpPr>
        <p:spPr>
          <a:xfrm>
            <a:off x="1805940" y="3752850"/>
            <a:ext cx="406400" cy="0"/>
          </a:xfrm>
          <a:prstGeom prst="line">
            <a:avLst/>
          </a:prstGeom>
          <a:noFill/>
          <a:ln w="9525">
            <a:solidFill>
              <a:srgbClr val="8A5E34"/>
            </a:solidFill>
            <a:prstDash val="solid"/>
          </a:ln>
        </p:spPr>
      </p:sp>
      <p:sp>
        <p:nvSpPr>
          <p:cNvPr id="11" name="Text 8"/>
          <p:cNvSpPr txBox="1"/>
          <p:nvPr/>
        </p:nvSpPr>
        <p:spPr>
          <a:xfrm>
            <a:off x="609600" y="3949700"/>
            <a:ext cx="5638800" cy="508000"/>
          </a:xfrm>
          <a:prstGeom prst="rect">
            <a:avLst/>
          </a:prstGeom>
          <a:noFill/>
          <a:ln/>
        </p:spPr>
        <p:txBody>
          <a:bodyPr wrap="square" lIns="0" tIns="0" rIns="0" bIns="0" rtlCol="0" anchor="t"/>
          <a:lstStyle/>
          <a:p>
            <a:pPr indent="0" marL="0">
              <a:lnSpc>
                <a:spcPts val="3456"/>
              </a:lnSpc>
              <a:buNone/>
            </a:pPr>
            <a:r>
              <a:rPr lang="en-US" sz="3200" dirty="0">
                <a:solidFill>
                  <a:srgbClr val="2E231A"/>
                </a:solidFill>
                <a:latin typeface="Playfair Display" pitchFamily="34" charset="0"/>
                <a:ea typeface="Playfair Display" pitchFamily="34" charset="-122"/>
                <a:cs typeface="Playfair Display" pitchFamily="34" charset="-120"/>
              </a:rPr>
              <a:t>Creating a </a:t>
            </a:r>
            <a:pPr indent="0" marL="0">
              <a:lnSpc>
                <a:spcPts val="3456"/>
              </a:lnSpc>
              <a:buNone/>
            </a:pPr>
            <a:r>
              <a:rPr lang="en-US" sz="3200" i="1" dirty="0">
                <a:solidFill>
                  <a:srgbClr val="8A5E34"/>
                </a:solidFill>
                <a:latin typeface="Playfair Display" pitchFamily="34" charset="0"/>
                <a:ea typeface="Playfair Display" pitchFamily="34" charset="-122"/>
                <a:cs typeface="Playfair Display" pitchFamily="34" charset="-120"/>
              </a:rPr>
              <a:t>New Spark</a:t>
            </a:r>
            <a:endParaRPr lang="en-US" sz="3200" dirty="0"/>
          </a:p>
        </p:txBody>
      </p:sp>
      <p:sp>
        <p:nvSpPr>
          <p:cNvPr id="12" name="Text 9"/>
          <p:cNvSpPr txBox="1"/>
          <p:nvPr/>
        </p:nvSpPr>
        <p:spPr>
          <a:xfrm>
            <a:off x="609600" y="4584700"/>
            <a:ext cx="5638800" cy="635000"/>
          </a:xfrm>
          <a:prstGeom prst="rect">
            <a:avLst/>
          </a:prstGeom>
          <a:noFill/>
          <a:ln/>
        </p:spPr>
        <p:txBody>
          <a:bodyPr wrap="square" lIns="0" tIns="0" rIns="0" bIns="0" rtlCol="0" anchor="t"/>
          <a:lstStyle/>
          <a:p>
            <a:pPr indent="0" marL="0">
              <a:lnSpc>
                <a:spcPts val="2250"/>
              </a:lnSpc>
              <a:buNone/>
            </a:pPr>
            <a:r>
              <a:rPr lang="en-US" sz="1500" dirty="0">
                <a:solidFill>
                  <a:srgbClr val="2E231A"/>
                </a:solidFill>
                <a:latin typeface="Newsreader" pitchFamily="34" charset="0"/>
                <a:ea typeface="Newsreader" pitchFamily="34" charset="-122"/>
                <a:cs typeface="Newsreader" pitchFamily="34" charset="-120"/>
              </a:rPr>
              <a:t>Every person is shaped by the many versions of themselves that came before:</a:t>
            </a:r>
            <a:endParaRPr lang="en-US" sz="1500" dirty="0"/>
          </a:p>
        </p:txBody>
      </p:sp>
      <p:sp>
        <p:nvSpPr>
          <p:cNvPr id="13" name="Shape 10"/>
          <p:cNvSpPr/>
          <p:nvPr/>
        </p:nvSpPr>
        <p:spPr>
          <a:xfrm>
            <a:off x="609600" y="5302250"/>
            <a:ext cx="5638800" cy="0"/>
          </a:xfrm>
          <a:prstGeom prst="line">
            <a:avLst/>
          </a:prstGeom>
          <a:noFill/>
          <a:ln w="9525">
            <a:solidFill>
              <a:srgbClr val="D9CCBA"/>
            </a:solidFill>
            <a:prstDash val="solid"/>
          </a:ln>
        </p:spPr>
      </p:sp>
      <p:sp>
        <p:nvSpPr>
          <p:cNvPr id="14" name="Text 11"/>
          <p:cNvSpPr txBox="1"/>
          <p:nvPr/>
        </p:nvSpPr>
        <p:spPr>
          <a:xfrm>
            <a:off x="609600" y="5467350"/>
            <a:ext cx="317500" cy="152400"/>
          </a:xfrm>
          <a:prstGeom prst="rect">
            <a:avLst/>
          </a:prstGeom>
          <a:noFill/>
          <a:ln/>
        </p:spPr>
        <p:txBody>
          <a:bodyPr wrap="square" lIns="0" tIns="0" rIns="0" bIns="0" rtlCol="0" anchor="t"/>
          <a:lstStyle/>
          <a:p>
            <a:pPr indent="0" marL="0">
              <a:buNone/>
            </a:pPr>
            <a:r>
              <a:rPr lang="en-US" sz="750" b="1" spc="150" kern="0" dirty="0">
                <a:solidFill>
                  <a:srgbClr val="8A5E34"/>
                </a:solidFill>
                <a:latin typeface="Inter" pitchFamily="34" charset="0"/>
                <a:ea typeface="Inter" pitchFamily="34" charset="-122"/>
                <a:cs typeface="Inter" pitchFamily="34" charset="-120"/>
              </a:rPr>
              <a:t>01</a:t>
            </a:r>
            <a:endParaRPr lang="en-US" sz="750" dirty="0"/>
          </a:p>
        </p:txBody>
      </p:sp>
      <p:sp>
        <p:nvSpPr>
          <p:cNvPr id="15" name="Text 12"/>
          <p:cNvSpPr txBox="1"/>
          <p:nvPr/>
        </p:nvSpPr>
        <p:spPr>
          <a:xfrm>
            <a:off x="1003300" y="5365750"/>
            <a:ext cx="5245100" cy="317500"/>
          </a:xfrm>
          <a:prstGeom prst="rect">
            <a:avLst/>
          </a:prstGeom>
          <a:noFill/>
          <a:ln/>
        </p:spPr>
        <p:txBody>
          <a:bodyPr wrap="square" lIns="0" tIns="0" rIns="0" bIns="0" rtlCol="0" anchor="t"/>
          <a:lstStyle/>
          <a:p>
            <a:pPr indent="0" marL="0">
              <a:buNone/>
            </a:pPr>
            <a:r>
              <a:rPr lang="en-US" sz="1800" i="1" dirty="0">
                <a:solidFill>
                  <a:srgbClr val="3E2F23"/>
                </a:solidFill>
                <a:latin typeface="Playfair Display" pitchFamily="34" charset="0"/>
                <a:ea typeface="Playfair Display" pitchFamily="34" charset="-122"/>
                <a:cs typeface="Playfair Display" pitchFamily="34" charset="-120"/>
              </a:rPr>
              <a:t>the confident version,</a:t>
            </a:r>
            <a:endParaRPr lang="en-US" sz="1800" dirty="0"/>
          </a:p>
        </p:txBody>
      </p:sp>
      <p:sp>
        <p:nvSpPr>
          <p:cNvPr id="16" name="Shape 13"/>
          <p:cNvSpPr/>
          <p:nvPr/>
        </p:nvSpPr>
        <p:spPr>
          <a:xfrm>
            <a:off x="609600" y="5721350"/>
            <a:ext cx="5638800" cy="0"/>
          </a:xfrm>
          <a:prstGeom prst="line">
            <a:avLst/>
          </a:prstGeom>
          <a:noFill/>
          <a:ln w="9525">
            <a:solidFill>
              <a:srgbClr val="D9CCBA"/>
            </a:solidFill>
            <a:prstDash val="solid"/>
          </a:ln>
        </p:spPr>
      </p:sp>
      <p:sp>
        <p:nvSpPr>
          <p:cNvPr id="17" name="Text 14"/>
          <p:cNvSpPr txBox="1"/>
          <p:nvPr/>
        </p:nvSpPr>
        <p:spPr>
          <a:xfrm>
            <a:off x="609600" y="5886450"/>
            <a:ext cx="317500" cy="152400"/>
          </a:xfrm>
          <a:prstGeom prst="rect">
            <a:avLst/>
          </a:prstGeom>
          <a:noFill/>
          <a:ln/>
        </p:spPr>
        <p:txBody>
          <a:bodyPr wrap="square" lIns="0" tIns="0" rIns="0" bIns="0" rtlCol="0" anchor="t"/>
          <a:lstStyle/>
          <a:p>
            <a:pPr indent="0" marL="0">
              <a:buNone/>
            </a:pPr>
            <a:r>
              <a:rPr lang="en-US" sz="750" b="1" spc="150" kern="0" dirty="0">
                <a:solidFill>
                  <a:srgbClr val="8A5E34"/>
                </a:solidFill>
                <a:latin typeface="Inter" pitchFamily="34" charset="0"/>
                <a:ea typeface="Inter" pitchFamily="34" charset="-122"/>
                <a:cs typeface="Inter" pitchFamily="34" charset="-120"/>
              </a:rPr>
              <a:t>02</a:t>
            </a:r>
            <a:endParaRPr lang="en-US" sz="750" dirty="0"/>
          </a:p>
        </p:txBody>
      </p:sp>
      <p:sp>
        <p:nvSpPr>
          <p:cNvPr id="18" name="Text 15"/>
          <p:cNvSpPr txBox="1"/>
          <p:nvPr/>
        </p:nvSpPr>
        <p:spPr>
          <a:xfrm>
            <a:off x="1003300" y="5784850"/>
            <a:ext cx="5245100" cy="317500"/>
          </a:xfrm>
          <a:prstGeom prst="rect">
            <a:avLst/>
          </a:prstGeom>
          <a:noFill/>
          <a:ln/>
        </p:spPr>
        <p:txBody>
          <a:bodyPr wrap="square" lIns="0" tIns="0" rIns="0" bIns="0" rtlCol="0" anchor="t"/>
          <a:lstStyle/>
          <a:p>
            <a:pPr indent="0" marL="0">
              <a:buNone/>
            </a:pPr>
            <a:r>
              <a:rPr lang="en-US" sz="1800" i="1" dirty="0">
                <a:solidFill>
                  <a:srgbClr val="3E2F23"/>
                </a:solidFill>
                <a:latin typeface="Playfair Display" pitchFamily="34" charset="0"/>
                <a:ea typeface="Playfair Display" pitchFamily="34" charset="-122"/>
                <a:cs typeface="Playfair Display" pitchFamily="34" charset="-120"/>
              </a:rPr>
              <a:t>the uncertain version,</a:t>
            </a:r>
            <a:endParaRPr lang="en-US" sz="1800" dirty="0"/>
          </a:p>
        </p:txBody>
      </p:sp>
      <p:sp>
        <p:nvSpPr>
          <p:cNvPr id="19" name="Shape 16"/>
          <p:cNvSpPr/>
          <p:nvPr/>
        </p:nvSpPr>
        <p:spPr>
          <a:xfrm>
            <a:off x="609600" y="6140450"/>
            <a:ext cx="5638800" cy="0"/>
          </a:xfrm>
          <a:prstGeom prst="line">
            <a:avLst/>
          </a:prstGeom>
          <a:noFill/>
          <a:ln w="9525">
            <a:solidFill>
              <a:srgbClr val="D9CCBA"/>
            </a:solidFill>
            <a:prstDash val="solid"/>
          </a:ln>
        </p:spPr>
      </p:sp>
      <p:sp>
        <p:nvSpPr>
          <p:cNvPr id="20" name="Text 17"/>
          <p:cNvSpPr txBox="1"/>
          <p:nvPr/>
        </p:nvSpPr>
        <p:spPr>
          <a:xfrm>
            <a:off x="609600" y="6305550"/>
            <a:ext cx="317500" cy="152400"/>
          </a:xfrm>
          <a:prstGeom prst="rect">
            <a:avLst/>
          </a:prstGeom>
          <a:noFill/>
          <a:ln/>
        </p:spPr>
        <p:txBody>
          <a:bodyPr wrap="square" lIns="0" tIns="0" rIns="0" bIns="0" rtlCol="0" anchor="t"/>
          <a:lstStyle/>
          <a:p>
            <a:pPr indent="0" marL="0">
              <a:buNone/>
            </a:pPr>
            <a:r>
              <a:rPr lang="en-US" sz="750" b="1" spc="150" kern="0" dirty="0">
                <a:solidFill>
                  <a:srgbClr val="8A5E34"/>
                </a:solidFill>
                <a:latin typeface="Inter" pitchFamily="34" charset="0"/>
                <a:ea typeface="Inter" pitchFamily="34" charset="-122"/>
                <a:cs typeface="Inter" pitchFamily="34" charset="-120"/>
              </a:rPr>
              <a:t>03</a:t>
            </a:r>
            <a:endParaRPr lang="en-US" sz="750" dirty="0"/>
          </a:p>
        </p:txBody>
      </p:sp>
      <p:sp>
        <p:nvSpPr>
          <p:cNvPr id="21" name="Text 18"/>
          <p:cNvSpPr txBox="1"/>
          <p:nvPr/>
        </p:nvSpPr>
        <p:spPr>
          <a:xfrm>
            <a:off x="1003300" y="6203950"/>
            <a:ext cx="5245100" cy="317500"/>
          </a:xfrm>
          <a:prstGeom prst="rect">
            <a:avLst/>
          </a:prstGeom>
          <a:noFill/>
          <a:ln/>
        </p:spPr>
        <p:txBody>
          <a:bodyPr wrap="square" lIns="0" tIns="0" rIns="0" bIns="0" rtlCol="0" anchor="t"/>
          <a:lstStyle/>
          <a:p>
            <a:pPr indent="0" marL="0">
              <a:buNone/>
            </a:pPr>
            <a:r>
              <a:rPr lang="en-US" sz="1800" i="1" dirty="0">
                <a:solidFill>
                  <a:srgbClr val="3E2F23"/>
                </a:solidFill>
                <a:latin typeface="Playfair Display" pitchFamily="34" charset="0"/>
                <a:ea typeface="Playfair Display" pitchFamily="34" charset="-122"/>
                <a:cs typeface="Playfair Display" pitchFamily="34" charset="-120"/>
              </a:rPr>
              <a:t>the exhausted version,</a:t>
            </a:r>
            <a:endParaRPr lang="en-US" sz="1800" dirty="0"/>
          </a:p>
        </p:txBody>
      </p:sp>
      <p:sp>
        <p:nvSpPr>
          <p:cNvPr id="22" name="Shape 19"/>
          <p:cNvSpPr/>
          <p:nvPr/>
        </p:nvSpPr>
        <p:spPr>
          <a:xfrm>
            <a:off x="609600" y="6559550"/>
            <a:ext cx="5638800" cy="0"/>
          </a:xfrm>
          <a:prstGeom prst="line">
            <a:avLst/>
          </a:prstGeom>
          <a:noFill/>
          <a:ln w="9525">
            <a:solidFill>
              <a:srgbClr val="D9CCBA"/>
            </a:solidFill>
            <a:prstDash val="solid"/>
          </a:ln>
        </p:spPr>
      </p:sp>
      <p:sp>
        <p:nvSpPr>
          <p:cNvPr id="23" name="Text 20"/>
          <p:cNvSpPr txBox="1"/>
          <p:nvPr/>
        </p:nvSpPr>
        <p:spPr>
          <a:xfrm>
            <a:off x="609600" y="6724650"/>
            <a:ext cx="317500" cy="152400"/>
          </a:xfrm>
          <a:prstGeom prst="rect">
            <a:avLst/>
          </a:prstGeom>
          <a:noFill/>
          <a:ln/>
        </p:spPr>
        <p:txBody>
          <a:bodyPr wrap="square" lIns="0" tIns="0" rIns="0" bIns="0" rtlCol="0" anchor="t"/>
          <a:lstStyle/>
          <a:p>
            <a:pPr indent="0" marL="0">
              <a:buNone/>
            </a:pPr>
            <a:r>
              <a:rPr lang="en-US" sz="750" b="1" spc="150" kern="0" dirty="0">
                <a:solidFill>
                  <a:srgbClr val="8A5E34"/>
                </a:solidFill>
                <a:latin typeface="Inter" pitchFamily="34" charset="0"/>
                <a:ea typeface="Inter" pitchFamily="34" charset="-122"/>
                <a:cs typeface="Inter" pitchFamily="34" charset="-120"/>
              </a:rPr>
              <a:t>04</a:t>
            </a:r>
            <a:endParaRPr lang="en-US" sz="750" dirty="0"/>
          </a:p>
        </p:txBody>
      </p:sp>
      <p:sp>
        <p:nvSpPr>
          <p:cNvPr id="24" name="Text 21"/>
          <p:cNvSpPr txBox="1"/>
          <p:nvPr/>
        </p:nvSpPr>
        <p:spPr>
          <a:xfrm>
            <a:off x="1003300" y="6623050"/>
            <a:ext cx="5245100" cy="317500"/>
          </a:xfrm>
          <a:prstGeom prst="rect">
            <a:avLst/>
          </a:prstGeom>
          <a:noFill/>
          <a:ln/>
        </p:spPr>
        <p:txBody>
          <a:bodyPr wrap="square" lIns="0" tIns="0" rIns="0" bIns="0" rtlCol="0" anchor="t"/>
          <a:lstStyle/>
          <a:p>
            <a:pPr indent="0" marL="0">
              <a:buNone/>
            </a:pPr>
            <a:r>
              <a:rPr lang="en-US" sz="1800" i="1" dirty="0">
                <a:solidFill>
                  <a:srgbClr val="3E2F23"/>
                </a:solidFill>
                <a:latin typeface="Playfair Display" pitchFamily="34" charset="0"/>
                <a:ea typeface="Playfair Display" pitchFamily="34" charset="-122"/>
                <a:cs typeface="Playfair Display" pitchFamily="34" charset="-120"/>
              </a:rPr>
              <a:t>the hopeful version,</a:t>
            </a:r>
            <a:endParaRPr lang="en-US" sz="1800" dirty="0"/>
          </a:p>
        </p:txBody>
      </p:sp>
      <p:sp>
        <p:nvSpPr>
          <p:cNvPr id="25" name="Shape 22"/>
          <p:cNvSpPr/>
          <p:nvPr/>
        </p:nvSpPr>
        <p:spPr>
          <a:xfrm>
            <a:off x="609600" y="6978650"/>
            <a:ext cx="5638800" cy="0"/>
          </a:xfrm>
          <a:prstGeom prst="line">
            <a:avLst/>
          </a:prstGeom>
          <a:noFill/>
          <a:ln w="9525">
            <a:solidFill>
              <a:srgbClr val="D9CCBA"/>
            </a:solidFill>
            <a:prstDash val="solid"/>
          </a:ln>
        </p:spPr>
      </p:sp>
      <p:sp>
        <p:nvSpPr>
          <p:cNvPr id="26" name="Text 23"/>
          <p:cNvSpPr txBox="1"/>
          <p:nvPr/>
        </p:nvSpPr>
        <p:spPr>
          <a:xfrm>
            <a:off x="609600" y="7143750"/>
            <a:ext cx="317500" cy="152400"/>
          </a:xfrm>
          <a:prstGeom prst="rect">
            <a:avLst/>
          </a:prstGeom>
          <a:noFill/>
          <a:ln/>
        </p:spPr>
        <p:txBody>
          <a:bodyPr wrap="square" lIns="0" tIns="0" rIns="0" bIns="0" rtlCol="0" anchor="t"/>
          <a:lstStyle/>
          <a:p>
            <a:pPr indent="0" marL="0">
              <a:buNone/>
            </a:pPr>
            <a:r>
              <a:rPr lang="en-US" sz="750" b="1" spc="150" kern="0" dirty="0">
                <a:solidFill>
                  <a:srgbClr val="8A5E34"/>
                </a:solidFill>
                <a:latin typeface="Inter" pitchFamily="34" charset="0"/>
                <a:ea typeface="Inter" pitchFamily="34" charset="-122"/>
                <a:cs typeface="Inter" pitchFamily="34" charset="-120"/>
              </a:rPr>
              <a:t>05</a:t>
            </a:r>
            <a:endParaRPr lang="en-US" sz="750" dirty="0"/>
          </a:p>
        </p:txBody>
      </p:sp>
      <p:sp>
        <p:nvSpPr>
          <p:cNvPr id="27" name="Text 24"/>
          <p:cNvSpPr txBox="1"/>
          <p:nvPr/>
        </p:nvSpPr>
        <p:spPr>
          <a:xfrm>
            <a:off x="1003300" y="7042150"/>
            <a:ext cx="5245100" cy="317500"/>
          </a:xfrm>
          <a:prstGeom prst="rect">
            <a:avLst/>
          </a:prstGeom>
          <a:noFill/>
          <a:ln/>
        </p:spPr>
        <p:txBody>
          <a:bodyPr wrap="square" lIns="0" tIns="0" rIns="0" bIns="0" rtlCol="0" anchor="t"/>
          <a:lstStyle/>
          <a:p>
            <a:pPr indent="0" marL="0">
              <a:buNone/>
            </a:pPr>
            <a:r>
              <a:rPr lang="en-US" sz="1800" i="1" dirty="0">
                <a:solidFill>
                  <a:srgbClr val="3E2F23"/>
                </a:solidFill>
                <a:latin typeface="Playfair Display" pitchFamily="34" charset="0"/>
                <a:ea typeface="Playfair Display" pitchFamily="34" charset="-122"/>
                <a:cs typeface="Playfair Display" pitchFamily="34" charset="-120"/>
              </a:rPr>
              <a:t>and the versions that continued despite difficulty.</a:t>
            </a:r>
            <a:endParaRPr lang="en-US" sz="1800" dirty="0"/>
          </a:p>
        </p:txBody>
      </p:sp>
      <p:sp>
        <p:nvSpPr>
          <p:cNvPr id="28" name="Shape 25"/>
          <p:cNvSpPr/>
          <p:nvPr/>
        </p:nvSpPr>
        <p:spPr>
          <a:xfrm>
            <a:off x="609600" y="7397750"/>
            <a:ext cx="5638800" cy="0"/>
          </a:xfrm>
          <a:prstGeom prst="line">
            <a:avLst/>
          </a:prstGeom>
          <a:noFill/>
          <a:ln w="9525">
            <a:solidFill>
              <a:srgbClr val="D9CCBA"/>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3E2F23"/>
        </a:solidFill>
      </p:bgPr>
    </p:bg>
    <p:spTree>
      <p:nvGrpSpPr>
        <p:cNvPr id="1" name=""/>
        <p:cNvGrpSpPr/>
        <p:nvPr/>
      </p:nvGrpSpPr>
      <p:grpSpPr>
        <a:xfrm>
          <a:off x="0" y="0"/>
          <a:ext cx="0" cy="0"/>
          <a:chOff x="0" y="0"/>
          <a:chExt cx="0" cy="0"/>
        </a:xfrm>
      </p:grpSpPr>
      <p:pic>
        <p:nvPicPr>
          <p:cNvPr id="2" name="Image 0" descr="The Wellness">    </p:cNvPr>
          <p:cNvPicPr>
            <a:picLocks noChangeAspect="1"/>
          </p:cNvPicPr>
          <p:nvPr/>
        </p:nvPicPr>
        <p:blipFill>
          <a:blip r:embed="rId1"/>
          <a:stretch>
            <a:fillRect/>
          </a:stretch>
        </p:blipFill>
        <p:spPr>
          <a:xfrm>
            <a:off x="609600" y="615950"/>
            <a:ext cx="1489529" cy="215900"/>
          </a:xfrm>
          <a:prstGeom prst="rect">
            <a:avLst/>
          </a:prstGeom>
        </p:spPr>
      </p:pic>
      <p:sp>
        <p:nvSpPr>
          <p:cNvPr id="3" name="Text 0"/>
          <p:cNvSpPr txBox="1"/>
          <p:nvPr/>
        </p:nvSpPr>
        <p:spPr>
          <a:xfrm>
            <a:off x="1905000" y="628650"/>
            <a:ext cx="3048000" cy="190500"/>
          </a:xfrm>
          <a:prstGeom prst="rect">
            <a:avLst/>
          </a:prstGeom>
          <a:noFill/>
          <a:ln/>
        </p:spPr>
        <p:txBody>
          <a:bodyPr wrap="square" lIns="0" tIns="0" rIns="0" bIns="0" rtlCol="0" anchor="t"/>
          <a:lstStyle/>
          <a:p>
            <a:pPr algn="ctr" indent="0" marL="0">
              <a:buNone/>
            </a:pPr>
            <a:r>
              <a:rPr lang="en-US" sz="850" spc="170" kern="0" dirty="0">
                <a:solidFill>
                  <a:srgbClr val="B8A691"/>
                </a:solidFill>
                <a:latin typeface="Inter" pitchFamily="34" charset="0"/>
                <a:ea typeface="Inter" pitchFamily="34" charset="-122"/>
                <a:cs typeface="Inter" pitchFamily="34" charset="-120"/>
              </a:rPr>
              <a:t>REBUILDING THE SPARK</a:t>
            </a:r>
            <a:endParaRPr lang="en-US" sz="850" dirty="0"/>
          </a:p>
        </p:txBody>
      </p:sp>
      <p:sp>
        <p:nvSpPr>
          <p:cNvPr id="4" name="Text 1"/>
          <p:cNvSpPr txBox="1"/>
          <p:nvPr/>
        </p:nvSpPr>
        <p:spPr>
          <a:xfrm>
            <a:off x="4978400" y="628650"/>
            <a:ext cx="1270000" cy="190500"/>
          </a:xfrm>
          <a:prstGeom prst="rect">
            <a:avLst/>
          </a:prstGeom>
          <a:noFill/>
          <a:ln/>
        </p:spPr>
        <p:txBody>
          <a:bodyPr wrap="square" lIns="0" tIns="0" rIns="0" bIns="0" rtlCol="0" anchor="t"/>
          <a:lstStyle/>
          <a:p>
            <a:pPr algn="r" indent="0" marL="0">
              <a:buNone/>
            </a:pPr>
            <a:r>
              <a:rPr lang="en-US" sz="850" spc="170" kern="0" dirty="0">
                <a:solidFill>
                  <a:srgbClr val="B8A691"/>
                </a:solidFill>
                <a:latin typeface="Inter" pitchFamily="34" charset="0"/>
                <a:ea typeface="Inter" pitchFamily="34" charset="-122"/>
                <a:cs typeface="Inter" pitchFamily="34" charset="-120"/>
              </a:rPr>
              <a:t>09 / 10</a:t>
            </a:r>
            <a:endParaRPr lang="en-US" sz="850" dirty="0"/>
          </a:p>
        </p:txBody>
      </p:sp>
      <p:sp>
        <p:nvSpPr>
          <p:cNvPr id="5" name="Shape 2"/>
          <p:cNvSpPr/>
          <p:nvPr/>
        </p:nvSpPr>
        <p:spPr>
          <a:xfrm>
            <a:off x="609600" y="1028700"/>
            <a:ext cx="5638800" cy="0"/>
          </a:xfrm>
          <a:prstGeom prst="line">
            <a:avLst/>
          </a:prstGeom>
          <a:noFill/>
          <a:ln w="9525">
            <a:solidFill>
              <a:srgbClr val="5D4F43"/>
            </a:solidFill>
            <a:prstDash val="solid"/>
          </a:ln>
        </p:spPr>
      </p:sp>
      <p:sp>
        <p:nvSpPr>
          <p:cNvPr id="6" name="Text 3"/>
          <p:cNvSpPr txBox="1"/>
          <p:nvPr/>
        </p:nvSpPr>
        <p:spPr>
          <a:xfrm>
            <a:off x="609600" y="7848600"/>
            <a:ext cx="4445000" cy="190500"/>
          </a:xfrm>
          <a:prstGeom prst="rect">
            <a:avLst/>
          </a:prstGeom>
          <a:noFill/>
          <a:ln/>
        </p:spPr>
        <p:txBody>
          <a:bodyPr wrap="square" lIns="0" tIns="0" rIns="0" bIns="0" rtlCol="0" anchor="t"/>
          <a:lstStyle/>
          <a:p>
            <a:pPr indent="0" marL="0">
              <a:buNone/>
            </a:pPr>
            <a:r>
              <a:rPr lang="en-US" sz="800" spc="160" kern="0" dirty="0">
                <a:solidFill>
                  <a:srgbClr val="B8A691"/>
                </a:solidFill>
                <a:latin typeface="Inter" pitchFamily="34" charset="0"/>
                <a:ea typeface="Inter" pitchFamily="34" charset="-122"/>
                <a:cs typeface="Inter" pitchFamily="34" charset="-120"/>
              </a:rPr>
              <a:t>THE WELLNESS</a:t>
            </a:r>
            <a:endParaRPr lang="en-US" sz="800" dirty="0"/>
          </a:p>
        </p:txBody>
      </p:sp>
      <p:sp>
        <p:nvSpPr>
          <p:cNvPr id="7" name="Text 4"/>
          <p:cNvSpPr txBox="1"/>
          <p:nvPr/>
        </p:nvSpPr>
        <p:spPr>
          <a:xfrm>
            <a:off x="5613400" y="7823200"/>
            <a:ext cx="635000" cy="190500"/>
          </a:xfrm>
          <a:prstGeom prst="rect">
            <a:avLst/>
          </a:prstGeom>
          <a:noFill/>
          <a:ln/>
        </p:spPr>
        <p:txBody>
          <a:bodyPr wrap="square" lIns="0" tIns="0" rIns="0" bIns="0" rtlCol="0" anchor="t"/>
          <a:lstStyle/>
          <a:p>
            <a:pPr algn="r" indent="0" marL="0">
              <a:buNone/>
            </a:pPr>
            <a:r>
              <a:rPr lang="en-US" sz="1000" dirty="0">
                <a:solidFill>
                  <a:srgbClr val="C89B6D"/>
                </a:solidFill>
                <a:latin typeface="Inter" pitchFamily="34" charset="0"/>
                <a:ea typeface="Inter" pitchFamily="34" charset="-122"/>
                <a:cs typeface="Inter" pitchFamily="34" charset="-120"/>
              </a:rPr>
              <a:t>→</a:t>
            </a:r>
            <a:endParaRPr lang="en-US" sz="1000" dirty="0"/>
          </a:p>
        </p:txBody>
      </p:sp>
      <p:sp>
        <p:nvSpPr>
          <p:cNvPr id="8" name="Text 5"/>
          <p:cNvSpPr txBox="1"/>
          <p:nvPr/>
        </p:nvSpPr>
        <p:spPr>
          <a:xfrm>
            <a:off x="609600" y="1358900"/>
            <a:ext cx="5207000" cy="698500"/>
          </a:xfrm>
          <a:prstGeom prst="rect">
            <a:avLst/>
          </a:prstGeom>
          <a:noFill/>
          <a:ln/>
        </p:spPr>
        <p:txBody>
          <a:bodyPr wrap="square" lIns="0" tIns="0" rIns="0" bIns="0" rtlCol="0" anchor="t"/>
          <a:lstStyle/>
          <a:p>
            <a:pPr indent="0" marL="0">
              <a:lnSpc>
                <a:spcPts val="2500"/>
              </a:lnSpc>
              <a:buNone/>
            </a:pPr>
            <a:r>
              <a:rPr lang="en-US" sz="1800" i="1" dirty="0">
                <a:solidFill>
                  <a:srgbClr val="B8A691"/>
                </a:solidFill>
                <a:latin typeface="Newsreader" pitchFamily="34" charset="0"/>
                <a:ea typeface="Newsreader" pitchFamily="34" charset="-122"/>
                <a:cs typeface="Newsreader" pitchFamily="34" charset="-120"/>
              </a:rPr>
              <a:t>Perhaps the goal is not to recover the exact spark that once existed.</a:t>
            </a:r>
            <a:endParaRPr lang="en-US" sz="1800" dirty="0"/>
          </a:p>
        </p:txBody>
      </p:sp>
      <p:sp>
        <p:nvSpPr>
          <p:cNvPr id="9" name="Text 6"/>
          <p:cNvSpPr txBox="1"/>
          <p:nvPr/>
        </p:nvSpPr>
        <p:spPr>
          <a:xfrm>
            <a:off x="609600" y="2286000"/>
            <a:ext cx="5207000" cy="1270000"/>
          </a:xfrm>
          <a:prstGeom prst="rect">
            <a:avLst/>
          </a:prstGeom>
          <a:noFill/>
          <a:ln/>
        </p:spPr>
        <p:txBody>
          <a:bodyPr wrap="square" lIns="0" tIns="0" rIns="0" bIns="0" rtlCol="0" anchor="t"/>
          <a:lstStyle/>
          <a:p>
            <a:pPr indent="0" marL="0">
              <a:lnSpc>
                <a:spcPts val="4600"/>
              </a:lnSpc>
              <a:buNone/>
            </a:pPr>
            <a:r>
              <a:rPr lang="en-US" sz="4400" dirty="0">
                <a:solidFill>
                  <a:srgbClr val="F5F0E8"/>
                </a:solidFill>
                <a:latin typeface="Playfair Display" pitchFamily="34" charset="0"/>
                <a:ea typeface="Playfair Display" pitchFamily="34" charset="-122"/>
                <a:cs typeface="Playfair Display" pitchFamily="34" charset="-120"/>
              </a:rPr>
              <a:t>Perhaps the goal is to </a:t>
            </a:r>
            <a:pPr indent="0" marL="0">
              <a:lnSpc>
                <a:spcPts val="4600"/>
              </a:lnSpc>
              <a:buNone/>
            </a:pPr>
            <a:r>
              <a:rPr lang="en-US" sz="4400" i="1" dirty="0">
                <a:solidFill>
                  <a:srgbClr val="C89B6D"/>
                </a:solidFill>
                <a:latin typeface="Playfair Display" pitchFamily="34" charset="0"/>
                <a:ea typeface="Playfair Display" pitchFamily="34" charset="-122"/>
                <a:cs typeface="Playfair Display" pitchFamily="34" charset="-120"/>
              </a:rPr>
              <a:t>create a new one.</a:t>
            </a:r>
            <a:endParaRPr lang="en-US" sz="4400" dirty="0"/>
          </a:p>
        </p:txBody>
      </p:sp>
      <p:sp>
        <p:nvSpPr>
          <p:cNvPr id="10" name="Shape 7"/>
          <p:cNvSpPr/>
          <p:nvPr/>
        </p:nvSpPr>
        <p:spPr>
          <a:xfrm>
            <a:off x="609600" y="3810000"/>
            <a:ext cx="5638800" cy="0"/>
          </a:xfrm>
          <a:prstGeom prst="line">
            <a:avLst/>
          </a:prstGeom>
          <a:noFill/>
          <a:ln w="9525">
            <a:solidFill>
              <a:srgbClr val="5D4F43"/>
            </a:solidFill>
            <a:prstDash val="solid"/>
          </a:ln>
        </p:spPr>
      </p:sp>
      <p:sp>
        <p:nvSpPr>
          <p:cNvPr id="11" name="Text 8"/>
          <p:cNvSpPr txBox="1"/>
          <p:nvPr/>
        </p:nvSpPr>
        <p:spPr>
          <a:xfrm>
            <a:off x="609600" y="4076700"/>
            <a:ext cx="5638800" cy="2032000"/>
          </a:xfrm>
          <a:prstGeom prst="rect">
            <a:avLst/>
          </a:prstGeom>
          <a:noFill/>
          <a:ln/>
        </p:spPr>
        <p:txBody>
          <a:bodyPr wrap="square" lIns="0" tIns="0" rIns="0" bIns="0" rtlCol="0" anchor="t"/>
          <a:lstStyle/>
          <a:p>
            <a:pPr indent="0" marL="0">
              <a:lnSpc>
                <a:spcPts val="2100"/>
              </a:lnSpc>
              <a:spcAft>
                <a:spcPts val="1100"/>
              </a:spcAft>
              <a:buNone/>
            </a:pPr>
            <a:r>
              <a:rPr lang="en-US" sz="1400" dirty="0">
                <a:solidFill>
                  <a:srgbClr val="EDE5D9"/>
                </a:solidFill>
                <a:latin typeface="Newsreader" pitchFamily="34" charset="0"/>
                <a:ea typeface="Newsreader" pitchFamily="34" charset="-122"/>
                <a:cs typeface="Newsreader" pitchFamily="34" charset="-120"/>
              </a:rPr>
              <a:t>Although human beings naturally return to memories of the past, growth requires recognizing that the past is only one part of the journey. Previous experiences may influence who people become, but they do not determine the full extent of who they can still become.</a:t>
            </a:r>
            <a:endParaRPr lang="en-US" sz="1400" dirty="0"/>
          </a:p>
          <a:p>
            <a:pPr indent="0" marL="0">
              <a:lnSpc>
                <a:spcPts val="2100"/>
              </a:lnSpc>
              <a:spcAft>
                <a:spcPts val="1100"/>
              </a:spcAft>
              <a:buNone/>
            </a:pPr>
            <a:r>
              <a:rPr lang="en-US" sz="1400" dirty="0">
                <a:solidFill>
                  <a:srgbClr val="EDE5D9"/>
                </a:solidFill>
                <a:latin typeface="Newsreader" pitchFamily="34" charset="0"/>
                <a:ea typeface="Newsreader" pitchFamily="34" charset="-122"/>
                <a:cs typeface="Newsreader" pitchFamily="34" charset="-120"/>
              </a:rPr>
              <a:t>The spark that was lost may not return in the same form. Instead, it may evolve into something different, a renewed sense of purpose, a deeper understanding of oneself, and the ability to continue moving forward.</a:t>
            </a:r>
            <a:endParaRPr lang="en-US" sz="1400" dirty="0"/>
          </a:p>
        </p:txBody>
      </p:sp>
      <p:sp>
        <p:nvSpPr>
          <p:cNvPr id="12" name="Text 9"/>
          <p:cNvSpPr txBox="1"/>
          <p:nvPr/>
        </p:nvSpPr>
        <p:spPr>
          <a:xfrm>
            <a:off x="609600" y="6477000"/>
            <a:ext cx="5207000" cy="1143000"/>
          </a:xfrm>
          <a:prstGeom prst="rect">
            <a:avLst/>
          </a:prstGeom>
          <a:noFill/>
          <a:ln/>
        </p:spPr>
        <p:txBody>
          <a:bodyPr wrap="square" lIns="0" tIns="0" rIns="0" bIns="0" rtlCol="0" anchor="t"/>
          <a:lstStyle/>
          <a:p>
            <a:pPr indent="0" marL="0">
              <a:lnSpc>
                <a:spcPts val="2750"/>
              </a:lnSpc>
              <a:buNone/>
            </a:pPr>
            <a:r>
              <a:rPr lang="en-US" sz="2200" dirty="0">
                <a:solidFill>
                  <a:srgbClr val="F5F0E8"/>
                </a:solidFill>
                <a:latin typeface="Playfair Display" pitchFamily="34" charset="0"/>
                <a:ea typeface="Playfair Display" pitchFamily="34" charset="-122"/>
                <a:cs typeface="Playfair Display" pitchFamily="34" charset="-120"/>
              </a:rPr>
              <a:t>Because becoming someone new does not mean losing who one was. </a:t>
            </a:r>
            <a:pPr indent="0" marL="0">
              <a:lnSpc>
                <a:spcPts val="2750"/>
              </a:lnSpc>
              <a:buNone/>
            </a:pPr>
            <a:r>
              <a:rPr lang="en-US" sz="2200" i="1" dirty="0">
                <a:solidFill>
                  <a:srgbClr val="C89B6D"/>
                </a:solidFill>
                <a:latin typeface="Playfair Display" pitchFamily="34" charset="0"/>
                <a:ea typeface="Playfair Display" pitchFamily="34" charset="-122"/>
                <a:cs typeface="Playfair Display" pitchFamily="34" charset="-120"/>
              </a:rPr>
              <a:t>It means carrying every version of oneself forward.</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8F3"/>
        </a:solidFill>
      </p:bgPr>
    </p:bg>
    <p:spTree>
      <p:nvGrpSpPr>
        <p:cNvPr id="1" name=""/>
        <p:cNvGrpSpPr/>
        <p:nvPr/>
      </p:nvGrpSpPr>
      <p:grpSpPr>
        <a:xfrm>
          <a:off x="0" y="0"/>
          <a:ext cx="0" cy="0"/>
          <a:chOff x="0" y="0"/>
          <a:chExt cx="0" cy="0"/>
        </a:xfrm>
      </p:grpSpPr>
      <p:pic>
        <p:nvPicPr>
          <p:cNvPr id="2" name="Image 0" descr="The Wellness">    </p:cNvPr>
          <p:cNvPicPr>
            <a:picLocks noChangeAspect="1"/>
          </p:cNvPicPr>
          <p:nvPr/>
        </p:nvPicPr>
        <p:blipFill>
          <a:blip r:embed="rId1"/>
          <a:stretch>
            <a:fillRect/>
          </a:stretch>
        </p:blipFill>
        <p:spPr>
          <a:xfrm>
            <a:off x="609600" y="615950"/>
            <a:ext cx="1489529" cy="215900"/>
          </a:xfrm>
          <a:prstGeom prst="rect">
            <a:avLst/>
          </a:prstGeom>
        </p:spPr>
      </p:pic>
      <p:sp>
        <p:nvSpPr>
          <p:cNvPr id="3" name="Text 0"/>
          <p:cNvSpPr txBox="1"/>
          <p:nvPr/>
        </p:nvSpPr>
        <p:spPr>
          <a:xfrm>
            <a:off x="1905000" y="628650"/>
            <a:ext cx="3048000" cy="190500"/>
          </a:xfrm>
          <a:prstGeom prst="rect">
            <a:avLst/>
          </a:prstGeom>
          <a:noFill/>
          <a:ln/>
        </p:spPr>
        <p:txBody>
          <a:bodyPr wrap="square" lIns="0" tIns="0" rIns="0" bIns="0" rtlCol="0" anchor="t"/>
          <a:lstStyle/>
          <a:p>
            <a:pPr algn="ctr" indent="0" marL="0">
              <a:buNone/>
            </a:pPr>
            <a:r>
              <a:rPr lang="en-US" sz="850" spc="170" kern="0" dirty="0">
                <a:solidFill>
                  <a:srgbClr val="7D6D5C"/>
                </a:solidFill>
                <a:latin typeface="Inter" pitchFamily="34" charset="0"/>
                <a:ea typeface="Inter" pitchFamily="34" charset="-122"/>
                <a:cs typeface="Inter" pitchFamily="34" charset="-120"/>
              </a:rPr>
              <a:t>REBUILDING THE SPARK</a:t>
            </a:r>
            <a:endParaRPr lang="en-US" sz="850" dirty="0"/>
          </a:p>
        </p:txBody>
      </p:sp>
      <p:sp>
        <p:nvSpPr>
          <p:cNvPr id="4" name="Text 1"/>
          <p:cNvSpPr txBox="1"/>
          <p:nvPr/>
        </p:nvSpPr>
        <p:spPr>
          <a:xfrm>
            <a:off x="4978400" y="628650"/>
            <a:ext cx="1270000" cy="190500"/>
          </a:xfrm>
          <a:prstGeom prst="rect">
            <a:avLst/>
          </a:prstGeom>
          <a:noFill/>
          <a:ln/>
        </p:spPr>
        <p:txBody>
          <a:bodyPr wrap="square" lIns="0" tIns="0" rIns="0" bIns="0" rtlCol="0" anchor="t"/>
          <a:lstStyle/>
          <a:p>
            <a:pPr algn="r" indent="0" marL="0">
              <a:buNone/>
            </a:pPr>
            <a:r>
              <a:rPr lang="en-US" sz="850" spc="170" kern="0" dirty="0">
                <a:solidFill>
                  <a:srgbClr val="7D6D5C"/>
                </a:solidFill>
                <a:latin typeface="Inter" pitchFamily="34" charset="0"/>
                <a:ea typeface="Inter" pitchFamily="34" charset="-122"/>
                <a:cs typeface="Inter" pitchFamily="34" charset="-120"/>
              </a:rPr>
              <a:t>10 / 10</a:t>
            </a:r>
            <a:endParaRPr lang="en-US" sz="850" dirty="0"/>
          </a:p>
        </p:txBody>
      </p:sp>
      <p:sp>
        <p:nvSpPr>
          <p:cNvPr id="5" name="Shape 2"/>
          <p:cNvSpPr/>
          <p:nvPr/>
        </p:nvSpPr>
        <p:spPr>
          <a:xfrm>
            <a:off x="609600" y="1028700"/>
            <a:ext cx="5638800" cy="0"/>
          </a:xfrm>
          <a:prstGeom prst="line">
            <a:avLst/>
          </a:prstGeom>
          <a:noFill/>
          <a:ln w="9525">
            <a:solidFill>
              <a:srgbClr val="D9CCBA"/>
            </a:solidFill>
            <a:prstDash val="solid"/>
          </a:ln>
        </p:spPr>
      </p:sp>
      <p:sp>
        <p:nvSpPr>
          <p:cNvPr id="6" name="Text 3"/>
          <p:cNvSpPr txBox="1"/>
          <p:nvPr/>
        </p:nvSpPr>
        <p:spPr>
          <a:xfrm>
            <a:off x="609600" y="1397000"/>
            <a:ext cx="3810000" cy="177800"/>
          </a:xfrm>
          <a:prstGeom prst="rect">
            <a:avLst/>
          </a:prstGeom>
          <a:noFill/>
          <a:ln/>
        </p:spPr>
        <p:txBody>
          <a:bodyPr wrap="square" lIns="0" tIns="0" rIns="0" bIns="0" rtlCol="0" anchor="t"/>
          <a:lstStyle/>
          <a:p>
            <a:pPr indent="0" marL="0">
              <a:buNone/>
            </a:pPr>
            <a:r>
              <a:rPr lang="en-US" sz="850" b="1" spc="170" kern="0" dirty="0">
                <a:solidFill>
                  <a:srgbClr val="8A5E34"/>
                </a:solidFill>
                <a:latin typeface="Inter" pitchFamily="34" charset="0"/>
                <a:ea typeface="Inter" pitchFamily="34" charset="-122"/>
                <a:cs typeface="Inter" pitchFamily="34" charset="-120"/>
              </a:rPr>
              <a:t>FURTHER READING</a:t>
            </a:r>
            <a:endParaRPr lang="en-US" sz="850" dirty="0"/>
          </a:p>
        </p:txBody>
      </p:sp>
      <p:sp>
        <p:nvSpPr>
          <p:cNvPr id="7" name="Shape 4"/>
          <p:cNvSpPr/>
          <p:nvPr/>
        </p:nvSpPr>
        <p:spPr>
          <a:xfrm>
            <a:off x="2076450" y="1466850"/>
            <a:ext cx="406400" cy="0"/>
          </a:xfrm>
          <a:prstGeom prst="line">
            <a:avLst/>
          </a:prstGeom>
          <a:noFill/>
          <a:ln w="9525">
            <a:solidFill>
              <a:srgbClr val="8A5E34"/>
            </a:solidFill>
            <a:prstDash val="solid"/>
          </a:ln>
        </p:spPr>
      </p:sp>
      <p:sp>
        <p:nvSpPr>
          <p:cNvPr id="8" name="Text 5"/>
          <p:cNvSpPr txBox="1"/>
          <p:nvPr/>
        </p:nvSpPr>
        <p:spPr>
          <a:xfrm>
            <a:off x="609600" y="1663700"/>
            <a:ext cx="5638800" cy="508000"/>
          </a:xfrm>
          <a:prstGeom prst="rect">
            <a:avLst/>
          </a:prstGeom>
          <a:noFill/>
          <a:ln/>
        </p:spPr>
        <p:txBody>
          <a:bodyPr wrap="square" lIns="0" tIns="0" rIns="0" bIns="0" rtlCol="0" anchor="t"/>
          <a:lstStyle/>
          <a:p>
            <a:pPr indent="0" marL="0">
              <a:buNone/>
            </a:pPr>
            <a:r>
              <a:rPr lang="en-US" sz="3200" dirty="0">
                <a:solidFill>
                  <a:srgbClr val="2E231A"/>
                </a:solidFill>
                <a:latin typeface="Playfair Display" pitchFamily="34" charset="0"/>
                <a:ea typeface="Playfair Display" pitchFamily="34" charset="-122"/>
                <a:cs typeface="Playfair Display" pitchFamily="34" charset="-120"/>
              </a:rPr>
              <a:t>References</a:t>
            </a:r>
            <a:endParaRPr lang="en-US" sz="3200" dirty="0"/>
          </a:p>
        </p:txBody>
      </p:sp>
      <p:sp>
        <p:nvSpPr>
          <p:cNvPr id="9" name="Shape 6"/>
          <p:cNvSpPr/>
          <p:nvPr/>
        </p:nvSpPr>
        <p:spPr>
          <a:xfrm>
            <a:off x="609600" y="2286000"/>
            <a:ext cx="5638800" cy="0"/>
          </a:xfrm>
          <a:prstGeom prst="line">
            <a:avLst/>
          </a:prstGeom>
          <a:noFill/>
          <a:ln w="9525">
            <a:solidFill>
              <a:srgbClr val="D9CCBA"/>
            </a:solidFill>
            <a:prstDash val="solid"/>
          </a:ln>
        </p:spPr>
      </p:sp>
      <p:sp>
        <p:nvSpPr>
          <p:cNvPr id="10" name="Text 7"/>
          <p:cNvSpPr txBox="1"/>
          <p:nvPr/>
        </p:nvSpPr>
        <p:spPr>
          <a:xfrm>
            <a:off x="609600" y="2413000"/>
            <a:ext cx="5638800" cy="482600"/>
          </a:xfrm>
          <a:prstGeom prst="rect">
            <a:avLst/>
          </a:prstGeom>
          <a:noFill/>
          <a:ln/>
        </p:spPr>
        <p:txBody>
          <a:bodyPr wrap="square" lIns="0" tIns="0" rIns="0" bIns="0" rtlCol="0" anchor="t"/>
          <a:lstStyle/>
          <a:p>
            <a:pPr indent="0" marL="0">
              <a:lnSpc>
                <a:spcPts val="1650"/>
              </a:lnSpc>
              <a:buNone/>
            </a:pPr>
            <a:r>
              <a:rPr lang="en-US" sz="1150" dirty="0">
                <a:solidFill>
                  <a:srgbClr val="2E231A"/>
                </a:solidFill>
                <a:latin typeface="Newsreader" pitchFamily="34" charset="0"/>
                <a:ea typeface="Newsreader" pitchFamily="34" charset="-122"/>
                <a:cs typeface="Newsreader" pitchFamily="34" charset="-120"/>
              </a:rPr>
              <a:t>Kolb, B., &amp; Gibb, R. (2011). Brain plasticity and behaviour in the developing brain. </a:t>
            </a:r>
            <a:pPr indent="0" marL="0">
              <a:lnSpc>
                <a:spcPts val="1650"/>
              </a:lnSpc>
              <a:buNone/>
            </a:pPr>
            <a:r>
              <a:rPr lang="en-US" sz="1150" i="1" dirty="0">
                <a:solidFill>
                  <a:srgbClr val="2E231A"/>
                </a:solidFill>
                <a:latin typeface="Newsreader" pitchFamily="34" charset="0"/>
                <a:ea typeface="Newsreader" pitchFamily="34" charset="-122"/>
                <a:cs typeface="Newsreader" pitchFamily="34" charset="-120"/>
              </a:rPr>
              <a:t>Journal of the Canadian Academy of Child and Adolescent Psychiatry, 20</a:t>
            </a:r>
            <a:pPr indent="0" marL="0">
              <a:lnSpc>
                <a:spcPts val="1650"/>
              </a:lnSpc>
              <a:buNone/>
            </a:pPr>
            <a:r>
              <a:rPr lang="en-US" sz="1150" dirty="0">
                <a:solidFill>
                  <a:srgbClr val="2E231A"/>
                </a:solidFill>
                <a:latin typeface="Newsreader" pitchFamily="34" charset="0"/>
                <a:ea typeface="Newsreader" pitchFamily="34" charset="-122"/>
                <a:cs typeface="Newsreader" pitchFamily="34" charset="-120"/>
              </a:rPr>
              <a:t>(4), 265–276.</a:t>
            </a:r>
            <a:endParaRPr lang="en-US" sz="1150" dirty="0"/>
          </a:p>
        </p:txBody>
      </p:sp>
      <p:sp>
        <p:nvSpPr>
          <p:cNvPr id="11" name="Shape 8"/>
          <p:cNvSpPr/>
          <p:nvPr/>
        </p:nvSpPr>
        <p:spPr>
          <a:xfrm>
            <a:off x="609600" y="2959100"/>
            <a:ext cx="5638800" cy="0"/>
          </a:xfrm>
          <a:prstGeom prst="line">
            <a:avLst/>
          </a:prstGeom>
          <a:noFill/>
          <a:ln w="9525">
            <a:solidFill>
              <a:srgbClr val="D9CCBA"/>
            </a:solidFill>
            <a:prstDash val="solid"/>
          </a:ln>
        </p:spPr>
      </p:sp>
      <p:sp>
        <p:nvSpPr>
          <p:cNvPr id="12" name="Text 9"/>
          <p:cNvSpPr txBox="1"/>
          <p:nvPr/>
        </p:nvSpPr>
        <p:spPr>
          <a:xfrm>
            <a:off x="609600" y="3086100"/>
            <a:ext cx="5638800" cy="482600"/>
          </a:xfrm>
          <a:prstGeom prst="rect">
            <a:avLst/>
          </a:prstGeom>
          <a:noFill/>
          <a:ln/>
        </p:spPr>
        <p:txBody>
          <a:bodyPr wrap="square" lIns="0" tIns="0" rIns="0" bIns="0" rtlCol="0" anchor="t"/>
          <a:lstStyle/>
          <a:p>
            <a:pPr indent="0" marL="0">
              <a:lnSpc>
                <a:spcPts val="1650"/>
              </a:lnSpc>
              <a:buNone/>
            </a:pPr>
            <a:r>
              <a:rPr lang="en-US" sz="1150" dirty="0">
                <a:solidFill>
                  <a:srgbClr val="2E231A"/>
                </a:solidFill>
                <a:latin typeface="Newsreader" pitchFamily="34" charset="0"/>
                <a:ea typeface="Newsreader" pitchFamily="34" charset="-122"/>
                <a:cs typeface="Newsreader" pitchFamily="34" charset="-120"/>
              </a:rPr>
              <a:t>McAdams, D. P. (2001). The psychology of life stories. </a:t>
            </a:r>
            <a:pPr indent="0" marL="0">
              <a:lnSpc>
                <a:spcPts val="1650"/>
              </a:lnSpc>
              <a:buNone/>
            </a:pPr>
            <a:r>
              <a:rPr lang="en-US" sz="1150" i="1" dirty="0">
                <a:solidFill>
                  <a:srgbClr val="2E231A"/>
                </a:solidFill>
                <a:latin typeface="Newsreader" pitchFamily="34" charset="0"/>
                <a:ea typeface="Newsreader" pitchFamily="34" charset="-122"/>
                <a:cs typeface="Newsreader" pitchFamily="34" charset="-120"/>
              </a:rPr>
              <a:t>Review of General Psychology, 5</a:t>
            </a:r>
            <a:pPr indent="0" marL="0">
              <a:lnSpc>
                <a:spcPts val="1650"/>
              </a:lnSpc>
              <a:buNone/>
            </a:pPr>
            <a:r>
              <a:rPr lang="en-US" sz="1150" dirty="0">
                <a:solidFill>
                  <a:srgbClr val="2E231A"/>
                </a:solidFill>
                <a:latin typeface="Newsreader" pitchFamily="34" charset="0"/>
                <a:ea typeface="Newsreader" pitchFamily="34" charset="-122"/>
                <a:cs typeface="Newsreader" pitchFamily="34" charset="-120"/>
              </a:rPr>
              <a:t>(2), 100–122. </a:t>
            </a:r>
            <a:pPr indent="0" marL="0">
              <a:lnSpc>
                <a:spcPts val="1650"/>
              </a:lnSpc>
              <a:buNone/>
            </a:pPr>
            <a:r>
              <a:rPr lang="en-US" sz="850" u="sng" dirty="0">
                <a:solidFill>
                  <a:srgbClr val="7D6D5C"/>
                </a:solidFill>
                <a:latin typeface="Inter" pitchFamily="34" charset="0"/>
                <a:ea typeface="Inter" pitchFamily="34" charset="-122"/>
                <a:cs typeface="Inter"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doi.org/10.1037/1089-2680.5.2.100</a:t>
            </a:r>
            <a:endParaRPr lang="en-US" sz="1150" dirty="0"/>
          </a:p>
        </p:txBody>
      </p:sp>
      <p:sp>
        <p:nvSpPr>
          <p:cNvPr id="13" name="Shape 10"/>
          <p:cNvSpPr/>
          <p:nvPr/>
        </p:nvSpPr>
        <p:spPr>
          <a:xfrm>
            <a:off x="609600" y="3632200"/>
            <a:ext cx="5638800" cy="0"/>
          </a:xfrm>
          <a:prstGeom prst="line">
            <a:avLst/>
          </a:prstGeom>
          <a:noFill/>
          <a:ln w="9525">
            <a:solidFill>
              <a:srgbClr val="D9CCBA"/>
            </a:solidFill>
            <a:prstDash val="solid"/>
          </a:ln>
        </p:spPr>
      </p:sp>
      <p:sp>
        <p:nvSpPr>
          <p:cNvPr id="14" name="Text 11"/>
          <p:cNvSpPr txBox="1"/>
          <p:nvPr/>
        </p:nvSpPr>
        <p:spPr>
          <a:xfrm>
            <a:off x="609600" y="3759200"/>
            <a:ext cx="5638800" cy="482600"/>
          </a:xfrm>
          <a:prstGeom prst="rect">
            <a:avLst/>
          </a:prstGeom>
          <a:noFill/>
          <a:ln/>
        </p:spPr>
        <p:txBody>
          <a:bodyPr wrap="square" lIns="0" tIns="0" rIns="0" bIns="0" rtlCol="0" anchor="t"/>
          <a:lstStyle/>
          <a:p>
            <a:pPr indent="0" marL="0">
              <a:lnSpc>
                <a:spcPts val="1650"/>
              </a:lnSpc>
              <a:buNone/>
            </a:pPr>
            <a:r>
              <a:rPr lang="en-US" sz="1150" dirty="0">
                <a:solidFill>
                  <a:srgbClr val="2E231A"/>
                </a:solidFill>
                <a:latin typeface="Newsreader" pitchFamily="34" charset="0"/>
                <a:ea typeface="Newsreader" pitchFamily="34" charset="-122"/>
                <a:cs typeface="Newsreader" pitchFamily="34" charset="-120"/>
              </a:rPr>
              <a:t>McAdams, D. P., &amp; McLean, K. C. (2013). Narrative identity. </a:t>
            </a:r>
            <a:pPr indent="0" marL="0">
              <a:lnSpc>
                <a:spcPts val="1650"/>
              </a:lnSpc>
              <a:buNone/>
            </a:pPr>
            <a:r>
              <a:rPr lang="en-US" sz="1150" i="1" dirty="0">
                <a:solidFill>
                  <a:srgbClr val="2E231A"/>
                </a:solidFill>
                <a:latin typeface="Newsreader" pitchFamily="34" charset="0"/>
                <a:ea typeface="Newsreader" pitchFamily="34" charset="-122"/>
                <a:cs typeface="Newsreader" pitchFamily="34" charset="-120"/>
              </a:rPr>
              <a:t>Current Directions in Psychological Science, 22</a:t>
            </a:r>
            <a:pPr indent="0" marL="0">
              <a:lnSpc>
                <a:spcPts val="1650"/>
              </a:lnSpc>
              <a:buNone/>
            </a:pPr>
            <a:r>
              <a:rPr lang="en-US" sz="1150" dirty="0">
                <a:solidFill>
                  <a:srgbClr val="2E231A"/>
                </a:solidFill>
                <a:latin typeface="Newsreader" pitchFamily="34" charset="0"/>
                <a:ea typeface="Newsreader" pitchFamily="34" charset="-122"/>
                <a:cs typeface="Newsreader" pitchFamily="34" charset="-120"/>
              </a:rPr>
              <a:t>(3), 233–238. </a:t>
            </a:r>
            <a:pPr indent="0" marL="0">
              <a:lnSpc>
                <a:spcPts val="1650"/>
              </a:lnSpc>
              <a:buNone/>
            </a:pPr>
            <a:r>
              <a:rPr lang="en-US" sz="850" u="sng" dirty="0">
                <a:solidFill>
                  <a:srgbClr val="7D6D5C"/>
                </a:solidFill>
                <a:latin typeface="Inter" pitchFamily="34" charset="0"/>
                <a:ea typeface="Inter" pitchFamily="34" charset="-122"/>
                <a:cs typeface="Inter" pitchFamily="34" charset="-120"/>
                <a:hlinkClick r:id="rId3" invalidUrl="" action="" tgtFrame="" tooltip="" history="1" highlightClick="0" endSnd="0">
                  <a:extLst>
                    <a:ext uri="{A12FA001-AC4F-418D-AE19-62706E023703}">
                      <ahyp:hlinkClr xmlns:ahyp="http://schemas.microsoft.com/office/drawing/2018/hyperlinkcolor" val="tx"/>
                    </a:ext>
                  </a:extLst>
                </a:hlinkClick>
              </a:rPr>
              <a:t>doi.org/10.1177/0963721413475622</a:t>
            </a:r>
            <a:endParaRPr lang="en-US" sz="1150" dirty="0"/>
          </a:p>
        </p:txBody>
      </p:sp>
      <p:sp>
        <p:nvSpPr>
          <p:cNvPr id="15" name="Shape 12"/>
          <p:cNvSpPr/>
          <p:nvPr/>
        </p:nvSpPr>
        <p:spPr>
          <a:xfrm>
            <a:off x="609600" y="4305300"/>
            <a:ext cx="5638800" cy="0"/>
          </a:xfrm>
          <a:prstGeom prst="line">
            <a:avLst/>
          </a:prstGeom>
          <a:noFill/>
          <a:ln w="9525">
            <a:solidFill>
              <a:srgbClr val="D9CCBA"/>
            </a:solidFill>
            <a:prstDash val="solid"/>
          </a:ln>
        </p:spPr>
      </p:sp>
      <p:sp>
        <p:nvSpPr>
          <p:cNvPr id="16" name="Text 13"/>
          <p:cNvSpPr txBox="1"/>
          <p:nvPr/>
        </p:nvSpPr>
        <p:spPr>
          <a:xfrm>
            <a:off x="609600" y="4432300"/>
            <a:ext cx="5638800" cy="692150"/>
          </a:xfrm>
          <a:prstGeom prst="rect">
            <a:avLst/>
          </a:prstGeom>
          <a:noFill/>
          <a:ln/>
        </p:spPr>
        <p:txBody>
          <a:bodyPr wrap="square" lIns="0" tIns="0" rIns="0" bIns="0" rtlCol="0" anchor="t"/>
          <a:lstStyle/>
          <a:p>
            <a:pPr indent="0" marL="0">
              <a:lnSpc>
                <a:spcPts val="1650"/>
              </a:lnSpc>
              <a:buNone/>
            </a:pPr>
            <a:r>
              <a:rPr lang="en-US" sz="1150" dirty="0">
                <a:solidFill>
                  <a:srgbClr val="2E231A"/>
                </a:solidFill>
                <a:latin typeface="Newsreader" pitchFamily="34" charset="0"/>
                <a:ea typeface="Newsreader" pitchFamily="34" charset="-122"/>
                <a:cs typeface="Newsreader" pitchFamily="34" charset="-120"/>
              </a:rPr>
              <a:t>McLean, K. C., &amp; Syed, M. (2015). Personal, master, and alternative narratives: An integrative framework for understanding identity development in context. </a:t>
            </a:r>
            <a:pPr indent="0" marL="0">
              <a:lnSpc>
                <a:spcPts val="1650"/>
              </a:lnSpc>
              <a:buNone/>
            </a:pPr>
            <a:r>
              <a:rPr lang="en-US" sz="1150" i="1" dirty="0">
                <a:solidFill>
                  <a:srgbClr val="2E231A"/>
                </a:solidFill>
                <a:latin typeface="Newsreader" pitchFamily="34" charset="0"/>
                <a:ea typeface="Newsreader" pitchFamily="34" charset="-122"/>
                <a:cs typeface="Newsreader" pitchFamily="34" charset="-120"/>
              </a:rPr>
              <a:t>Human Development, 58</a:t>
            </a:r>
            <a:pPr indent="0" marL="0">
              <a:lnSpc>
                <a:spcPts val="1650"/>
              </a:lnSpc>
              <a:buNone/>
            </a:pPr>
            <a:r>
              <a:rPr lang="en-US" sz="1150" dirty="0">
                <a:solidFill>
                  <a:srgbClr val="2E231A"/>
                </a:solidFill>
                <a:latin typeface="Newsreader" pitchFamily="34" charset="0"/>
                <a:ea typeface="Newsreader" pitchFamily="34" charset="-122"/>
                <a:cs typeface="Newsreader" pitchFamily="34" charset="-120"/>
              </a:rPr>
              <a:t>(6), 318–349. </a:t>
            </a:r>
            <a:pPr indent="0" marL="0">
              <a:lnSpc>
                <a:spcPts val="1650"/>
              </a:lnSpc>
              <a:buNone/>
            </a:pPr>
            <a:r>
              <a:rPr lang="en-US" sz="850" u="sng" dirty="0">
                <a:solidFill>
                  <a:srgbClr val="7D6D5C"/>
                </a:solidFill>
                <a:latin typeface="Inter" pitchFamily="34" charset="0"/>
                <a:ea typeface="Inter" pitchFamily="34" charset="-122"/>
                <a:cs typeface="Inter" pitchFamily="34" charset="-120"/>
                <a:hlinkClick r:id="rId4" invalidUrl="" action="" tgtFrame="" tooltip="" history="1" highlightClick="0" endSnd="0">
                  <a:extLst>
                    <a:ext uri="{A12FA001-AC4F-418D-AE19-62706E023703}">
                      <ahyp:hlinkClr xmlns:ahyp="http://schemas.microsoft.com/office/drawing/2018/hyperlinkcolor" val="tx"/>
                    </a:ext>
                  </a:extLst>
                </a:hlinkClick>
              </a:rPr>
              <a:t>doi.org/10.1159/000445817</a:t>
            </a:r>
            <a:endParaRPr lang="en-US" sz="1150" dirty="0"/>
          </a:p>
        </p:txBody>
      </p:sp>
      <p:sp>
        <p:nvSpPr>
          <p:cNvPr id="17" name="Shape 14"/>
          <p:cNvSpPr/>
          <p:nvPr/>
        </p:nvSpPr>
        <p:spPr>
          <a:xfrm>
            <a:off x="609600" y="5187950"/>
            <a:ext cx="5638800" cy="0"/>
          </a:xfrm>
          <a:prstGeom prst="line">
            <a:avLst/>
          </a:prstGeom>
          <a:noFill/>
          <a:ln w="9525">
            <a:solidFill>
              <a:srgbClr val="D9CCBA"/>
            </a:solidFill>
            <a:prstDash val="solid"/>
          </a:ln>
        </p:spPr>
      </p:sp>
      <p:sp>
        <p:nvSpPr>
          <p:cNvPr id="18" name="Text 15"/>
          <p:cNvSpPr txBox="1"/>
          <p:nvPr/>
        </p:nvSpPr>
        <p:spPr>
          <a:xfrm>
            <a:off x="609600" y="5314950"/>
            <a:ext cx="5638800" cy="692150"/>
          </a:xfrm>
          <a:prstGeom prst="rect">
            <a:avLst/>
          </a:prstGeom>
          <a:noFill/>
          <a:ln/>
        </p:spPr>
        <p:txBody>
          <a:bodyPr wrap="square" lIns="0" tIns="0" rIns="0" bIns="0" rtlCol="0" anchor="t"/>
          <a:lstStyle/>
          <a:p>
            <a:pPr indent="0" marL="0">
              <a:lnSpc>
                <a:spcPts val="1650"/>
              </a:lnSpc>
              <a:buNone/>
            </a:pPr>
            <a:r>
              <a:rPr lang="en-US" sz="1150" dirty="0">
                <a:solidFill>
                  <a:srgbClr val="2E231A"/>
                </a:solidFill>
                <a:latin typeface="Newsreader" pitchFamily="34" charset="0"/>
                <a:ea typeface="Newsreader" pitchFamily="34" charset="-122"/>
                <a:cs typeface="Newsreader" pitchFamily="34" charset="-120"/>
              </a:rPr>
              <a:t>Routledge, C., Arndt, J., Sedikides, C., &amp; Wildschut, T. (2011). The past makes the present meaningful: Nostalgia as an existential resource. </a:t>
            </a:r>
            <a:pPr indent="0" marL="0">
              <a:lnSpc>
                <a:spcPts val="1650"/>
              </a:lnSpc>
              <a:buNone/>
            </a:pPr>
            <a:r>
              <a:rPr lang="en-US" sz="1150" i="1" dirty="0">
                <a:solidFill>
                  <a:srgbClr val="2E231A"/>
                </a:solidFill>
                <a:latin typeface="Newsreader" pitchFamily="34" charset="0"/>
                <a:ea typeface="Newsreader" pitchFamily="34" charset="-122"/>
                <a:cs typeface="Newsreader" pitchFamily="34" charset="-120"/>
              </a:rPr>
              <a:t>Journal of Personality and Social Psychology, 101</a:t>
            </a:r>
            <a:pPr indent="0" marL="0">
              <a:lnSpc>
                <a:spcPts val="1650"/>
              </a:lnSpc>
              <a:buNone/>
            </a:pPr>
            <a:r>
              <a:rPr lang="en-US" sz="1150" dirty="0">
                <a:solidFill>
                  <a:srgbClr val="2E231A"/>
                </a:solidFill>
                <a:latin typeface="Newsreader" pitchFamily="34" charset="0"/>
                <a:ea typeface="Newsreader" pitchFamily="34" charset="-122"/>
                <a:cs typeface="Newsreader" pitchFamily="34" charset="-120"/>
              </a:rPr>
              <a:t>(3), 638–652. </a:t>
            </a:r>
            <a:pPr indent="0" marL="0">
              <a:lnSpc>
                <a:spcPts val="1650"/>
              </a:lnSpc>
              <a:buNone/>
            </a:pPr>
            <a:r>
              <a:rPr lang="en-US" sz="850" u="sng" dirty="0">
                <a:solidFill>
                  <a:srgbClr val="7D6D5C"/>
                </a:solidFill>
                <a:latin typeface="Inter" pitchFamily="34" charset="0"/>
                <a:ea typeface="Inter" pitchFamily="34" charset="-122"/>
                <a:cs typeface="Inter" pitchFamily="34" charset="-120"/>
                <a:hlinkClick r:id="rId5" invalidUrl="" action="" tgtFrame="" tooltip="" history="1" highlightClick="0" endSnd="0">
                  <a:extLst>
                    <a:ext uri="{A12FA001-AC4F-418D-AE19-62706E023703}">
                      <ahyp:hlinkClr xmlns:ahyp="http://schemas.microsoft.com/office/drawing/2018/hyperlinkcolor" val="tx"/>
                    </a:ext>
                  </a:extLst>
                </a:hlinkClick>
              </a:rPr>
              <a:t>doi.org/10.1037/a0024292</a:t>
            </a:r>
            <a:endParaRPr lang="en-US" sz="1150" dirty="0"/>
          </a:p>
        </p:txBody>
      </p:sp>
      <p:sp>
        <p:nvSpPr>
          <p:cNvPr id="19" name="Shape 16"/>
          <p:cNvSpPr/>
          <p:nvPr/>
        </p:nvSpPr>
        <p:spPr>
          <a:xfrm>
            <a:off x="609600" y="6070600"/>
            <a:ext cx="5638800" cy="0"/>
          </a:xfrm>
          <a:prstGeom prst="line">
            <a:avLst/>
          </a:prstGeom>
          <a:noFill/>
          <a:ln w="9525">
            <a:solidFill>
              <a:srgbClr val="D9CCBA"/>
            </a:solidFill>
            <a:prstDash val="solid"/>
          </a:ln>
        </p:spPr>
      </p:sp>
      <p:sp>
        <p:nvSpPr>
          <p:cNvPr id="20" name="Text 17"/>
          <p:cNvSpPr txBox="1"/>
          <p:nvPr/>
        </p:nvSpPr>
        <p:spPr>
          <a:xfrm>
            <a:off x="609600" y="6197600"/>
            <a:ext cx="5638800" cy="482600"/>
          </a:xfrm>
          <a:prstGeom prst="rect">
            <a:avLst/>
          </a:prstGeom>
          <a:noFill/>
          <a:ln/>
        </p:spPr>
        <p:txBody>
          <a:bodyPr wrap="square" lIns="0" tIns="0" rIns="0" bIns="0" rtlCol="0" anchor="t"/>
          <a:lstStyle/>
          <a:p>
            <a:pPr indent="0" marL="0">
              <a:lnSpc>
                <a:spcPts val="1650"/>
              </a:lnSpc>
              <a:buNone/>
            </a:pPr>
            <a:r>
              <a:rPr lang="en-US" sz="1150" dirty="0">
                <a:solidFill>
                  <a:srgbClr val="2E231A"/>
                </a:solidFill>
                <a:latin typeface="Newsreader" pitchFamily="34" charset="0"/>
                <a:ea typeface="Newsreader" pitchFamily="34" charset="-122"/>
                <a:cs typeface="Newsreader" pitchFamily="34" charset="-120"/>
              </a:rPr>
              <a:t>Sedikides, C., &amp; Wildschut, T. (2022). Nostalgia as motivation. </a:t>
            </a:r>
            <a:pPr indent="0" marL="0">
              <a:lnSpc>
                <a:spcPts val="1650"/>
              </a:lnSpc>
              <a:buNone/>
            </a:pPr>
            <a:r>
              <a:rPr lang="en-US" sz="1150" i="1" dirty="0">
                <a:solidFill>
                  <a:srgbClr val="2E231A"/>
                </a:solidFill>
                <a:latin typeface="Newsreader" pitchFamily="34" charset="0"/>
                <a:ea typeface="Newsreader" pitchFamily="34" charset="-122"/>
                <a:cs typeface="Newsreader" pitchFamily="34" charset="-120"/>
              </a:rPr>
              <a:t>Current Opinion in Psychology, 46</a:t>
            </a:r>
            <a:pPr indent="0" marL="0">
              <a:lnSpc>
                <a:spcPts val="1650"/>
              </a:lnSpc>
              <a:buNone/>
            </a:pPr>
            <a:r>
              <a:rPr lang="en-US" sz="1150" dirty="0">
                <a:solidFill>
                  <a:srgbClr val="2E231A"/>
                </a:solidFill>
                <a:latin typeface="Newsreader" pitchFamily="34" charset="0"/>
                <a:ea typeface="Newsreader" pitchFamily="34" charset="-122"/>
                <a:cs typeface="Newsreader" pitchFamily="34" charset="-120"/>
              </a:rPr>
              <a:t>, 101284. </a:t>
            </a:r>
            <a:pPr indent="0" marL="0">
              <a:lnSpc>
                <a:spcPts val="1650"/>
              </a:lnSpc>
              <a:buNone/>
            </a:pPr>
            <a:r>
              <a:rPr lang="en-US" sz="850" u="sng" dirty="0">
                <a:solidFill>
                  <a:srgbClr val="7D6D5C"/>
                </a:solidFill>
                <a:latin typeface="Inter" pitchFamily="34" charset="0"/>
                <a:ea typeface="Inter" pitchFamily="34" charset="-122"/>
                <a:cs typeface="Inter" pitchFamily="34" charset="-120"/>
                <a:hlinkClick r:id="rId6" invalidUrl="" action="" tgtFrame="" tooltip="" history="1" highlightClick="0" endSnd="0">
                  <a:extLst>
                    <a:ext uri="{A12FA001-AC4F-418D-AE19-62706E023703}">
                      <ahyp:hlinkClr xmlns:ahyp="http://schemas.microsoft.com/office/drawing/2018/hyperlinkcolor" val="tx"/>
                    </a:ext>
                  </a:extLst>
                </a:hlinkClick>
              </a:rPr>
              <a:t>doi.org/10.1016/j.copsyc.2022.101284</a:t>
            </a:r>
            <a:endParaRPr lang="en-US" sz="1150" dirty="0"/>
          </a:p>
        </p:txBody>
      </p:sp>
      <p:sp>
        <p:nvSpPr>
          <p:cNvPr id="21" name="Shape 18"/>
          <p:cNvSpPr/>
          <p:nvPr/>
        </p:nvSpPr>
        <p:spPr>
          <a:xfrm>
            <a:off x="609600" y="6743700"/>
            <a:ext cx="5638800" cy="0"/>
          </a:xfrm>
          <a:prstGeom prst="line">
            <a:avLst/>
          </a:prstGeom>
          <a:noFill/>
          <a:ln w="9525">
            <a:solidFill>
              <a:srgbClr val="D9CCBA"/>
            </a:solidFill>
            <a:prstDash val="solid"/>
          </a:ln>
        </p:spPr>
      </p:sp>
      <p:pic>
        <p:nvPicPr>
          <p:cNvPr id="22" name="Image 1" descr="The Wellness">    </p:cNvPr>
          <p:cNvPicPr>
            <a:picLocks noChangeAspect="1"/>
          </p:cNvPicPr>
          <p:nvPr/>
        </p:nvPicPr>
        <p:blipFill>
          <a:blip r:embed="rId7"/>
          <a:stretch>
            <a:fillRect/>
          </a:stretch>
        </p:blipFill>
        <p:spPr>
          <a:xfrm>
            <a:off x="2730500" y="7696200"/>
            <a:ext cx="1397000" cy="20248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Rebuilding the Spark We Thought We Lost</dc:title>
  <dc:subject>PptxGenJS Presentation</dc:subject>
  <dc:creator>The Wellness</dc:creator>
  <cp:lastModifiedBy>The Wellness</cp:lastModifiedBy>
  <cp:revision>1</cp:revision>
  <dcterms:created xsi:type="dcterms:W3CDTF">2026-09-30T16:25:29Z</dcterms:created>
  <dcterms:modified xsi:type="dcterms:W3CDTF">2026-09-30T16:25:29Z</dcterms:modified>
</cp:coreProperties>
</file>